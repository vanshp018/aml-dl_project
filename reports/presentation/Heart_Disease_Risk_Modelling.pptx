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6A4F488-F30E-BC30-A5B2-114CDBF1F6BE}">
          <p14:sldIdLst>
            <p14:sldId id="256"/>
            <p14:sldId id="257"/>
            <p14:sldId id="258"/>
          </p14:sldIdLst>
        </p14:section>
        <p14:section name="Data" id="{CBA8D406-9B8C-4997-9BF7-F6E47AEDBBAF}">
          <p14:sldIdLst>
            <p14:sldId id="259"/>
            <p14:sldId id="260"/>
            <p14:sldId id="261"/>
          </p14:sldIdLst>
        </p14:section>
        <p14:section name="Evaluation and models" id="{39E2975D-D10A-306D-84AB-6BF1893D3C8B}">
          <p14:sldIdLst>
            <p14:sldId id="262"/>
            <p14:sldId id="263"/>
            <p14:sldId id="264"/>
            <p14:sldId id="265"/>
            <p14:sldId id="266"/>
            <p14:sldId id="267"/>
          </p14:sldIdLst>
        </p14:section>
        <p14:section name="Results" id="{67E1D9F8-2A4C-9C04-0742-24BD0138BA41}">
          <p14:sldIdLst>
            <p14:sldId id="268"/>
            <p14:sldId id="269"/>
            <p14:sldId id="270"/>
          </p14:sldIdLst>
        </p14:section>
        <p14:section name="Demo and conclusion" id="{92279FE9-C0E2-C371-102B-C12BB9AD8761}">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3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130"/>
                </a:solidFill>
                <a:latin typeface="+mn-lt"/>
              </a:defRPr>
            </a:pPr>
            <a:r>
              <a:rPr lang="en-US" sz="1400" b="0" i="0" u="none" strike="noStrike">
                <a:solidFill>
                  <a:srgbClr val="1B2130"/>
                </a:solidFill>
                <a:latin typeface="+mn-lt"/>
              </a:rPr>
              <a:t>Patients by diagnosis level num (1–4 grouped as disease)</a:t>
            </a:r>
          </a:p>
        </c:rich>
      </c:tx>
      <c:overlay val="0"/>
    </c:title>
    <c:autoTitleDeleted val="0"/>
    <c:plotArea>
      <c:layout/>
      <c:barChart>
        <c:barDir val="col"/>
        <c:grouping val="clustered"/>
        <c:varyColors val="0"/>
        <c:ser>
          <c:idx val="0"/>
          <c:order val="0"/>
          <c:tx>
            <c:strRef>
              <c:f>Sheet1!$B$1</c:f>
              <c:strCache>
                <c:ptCount val="1"/>
                <c:pt idx="0">
                  <c:v>Patients</c:v>
                </c:pt>
              </c:strCache>
            </c:strRef>
          </c:tx>
          <c:spPr>
            <a:solidFill>
              <a:srgbClr val="5B6475"/>
            </a:solidFill>
            <a:effectLst/>
          </c:spPr>
          <c:invertIfNegative val="0"/>
          <c:dPt>
            <c:idx val="0"/>
            <c:invertIfNegative val="0"/>
            <c:bubble3D val="0"/>
            <c:spPr>
              <a:solidFill>
                <a:srgbClr val="5B6475"/>
              </a:solidFill>
              <a:effectLst/>
            </c:spPr>
            <c:extLst>
              <c:ext xmlns:c16="http://schemas.microsoft.com/office/drawing/2014/chart" uri="{C3380CC4-5D6E-409C-BE32-E72D297353CC}">
                <c16:uniqueId val="{00000001-153F-C544-AB28-66CB1ECE020A}"/>
              </c:ext>
            </c:extLst>
          </c:dPt>
          <c:dPt>
            <c:idx val="1"/>
            <c:invertIfNegative val="0"/>
            <c:bubble3D val="0"/>
            <c:spPr>
              <a:solidFill>
                <a:srgbClr val="A3172F"/>
              </a:solidFill>
              <a:effectLst/>
            </c:spPr>
            <c:extLst>
              <c:ext xmlns:c16="http://schemas.microsoft.com/office/drawing/2014/chart" uri="{C3380CC4-5D6E-409C-BE32-E72D297353CC}">
                <c16:uniqueId val="{00000003-153F-C544-AB28-66CB1ECE020A}"/>
              </c:ext>
            </c:extLst>
          </c:dPt>
          <c:dPt>
            <c:idx val="2"/>
            <c:invertIfNegative val="0"/>
            <c:bubble3D val="0"/>
            <c:spPr>
              <a:solidFill>
                <a:srgbClr val="A3172F"/>
              </a:solidFill>
              <a:effectLst/>
            </c:spPr>
            <c:extLst>
              <c:ext xmlns:c16="http://schemas.microsoft.com/office/drawing/2014/chart" uri="{C3380CC4-5D6E-409C-BE32-E72D297353CC}">
                <c16:uniqueId val="{00000005-153F-C544-AB28-66CB1ECE020A}"/>
              </c:ext>
            </c:extLst>
          </c:dPt>
          <c:dPt>
            <c:idx val="3"/>
            <c:invertIfNegative val="0"/>
            <c:bubble3D val="0"/>
            <c:spPr>
              <a:solidFill>
                <a:srgbClr val="A3172F"/>
              </a:solidFill>
              <a:effectLst/>
            </c:spPr>
            <c:extLst>
              <c:ext xmlns:c16="http://schemas.microsoft.com/office/drawing/2014/chart" uri="{C3380CC4-5D6E-409C-BE32-E72D297353CC}">
                <c16:uniqueId val="{00000007-153F-C544-AB28-66CB1ECE020A}"/>
              </c:ext>
            </c:extLst>
          </c:dPt>
          <c:dPt>
            <c:idx val="4"/>
            <c:invertIfNegative val="0"/>
            <c:bubble3D val="0"/>
            <c:spPr>
              <a:solidFill>
                <a:srgbClr val="A3172F"/>
              </a:solidFill>
              <a:effectLst/>
            </c:spPr>
            <c:extLst>
              <c:ext xmlns:c16="http://schemas.microsoft.com/office/drawing/2014/chart" uri="{C3380CC4-5D6E-409C-BE32-E72D297353CC}">
                <c16:uniqueId val="{00000009-153F-C544-AB28-66CB1ECE020A}"/>
              </c:ext>
            </c:extLst>
          </c:dPt>
          <c:dLbls>
            <c:numFmt formatCode="#,##0" sourceLinked="0"/>
            <c:spPr>
              <a:noFill/>
              <a:ln>
                <a:noFill/>
              </a:ln>
              <a:effectLst/>
            </c:spPr>
            <c:txPr>
              <a:bodyPr/>
              <a:lstStyle/>
              <a:p>
                <a:pPr>
                  <a:defRPr sz="1200" b="0" i="0" u="none" strike="noStrike">
                    <a:solidFill>
                      <a:srgbClr val="1B213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0 (none)</c:v>
                </c:pt>
                <c:pt idx="1">
                  <c:v>1</c:v>
                </c:pt>
                <c:pt idx="2">
                  <c:v>2</c:v>
                </c:pt>
                <c:pt idx="3">
                  <c:v>3</c:v>
                </c:pt>
                <c:pt idx="4">
                  <c:v>4</c:v>
                </c:pt>
              </c:strCache>
            </c:strRef>
          </c:cat>
          <c:val>
            <c:numRef>
              <c:f>Sheet1!$B$2:$B$6</c:f>
              <c:numCache>
                <c:formatCode>General</c:formatCode>
                <c:ptCount val="5"/>
                <c:pt idx="0">
                  <c:v>164</c:v>
                </c:pt>
                <c:pt idx="1">
                  <c:v>55</c:v>
                </c:pt>
                <c:pt idx="2">
                  <c:v>36</c:v>
                </c:pt>
                <c:pt idx="3">
                  <c:v>35</c:v>
                </c:pt>
                <c:pt idx="4">
                  <c:v>13</c:v>
                </c:pt>
              </c:numCache>
            </c:numRef>
          </c:val>
          <c:extLst>
            <c:ext xmlns:c16="http://schemas.microsoft.com/office/drawing/2014/chart" uri="{C3380CC4-5D6E-409C-BE32-E72D297353CC}">
              <c16:uniqueId val="{0000000A-153F-C544-AB28-66CB1ECE020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title>
          <c:tx>
            <c:rich>
              <a:bodyPr/>
              <a:lstStyle/>
              <a:p>
                <a:pPr>
                  <a:defRPr sz="1100" b="0" i="0" u="none" strike="noStrike">
                    <a:solidFill>
                      <a:srgbClr val="5B6475"/>
                    </a:solidFill>
                    <a:latin typeface="+mn-lt"/>
                  </a:defRPr>
                </a:pPr>
                <a:r>
                  <a:rPr lang="en-US" sz="1100" b="0" i="0" u="none" strike="noStrike">
                    <a:solidFill>
                      <a:srgbClr val="5B6475"/>
                    </a:solidFill>
                    <a:latin typeface="+mn-lt"/>
                  </a:rPr>
                  <a:t>num</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130"/>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6350" cap="flat">
              <a:solidFill>
                <a:srgbClr val="D5D9E0"/>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130"/>
                </a:solidFill>
                <a:latin typeface="+mn-lt"/>
              </a:defRPr>
            </a:pPr>
            <a:r>
              <a:rPr lang="en-US" sz="1400" b="0" i="0" u="none" strike="noStrike">
                <a:solidFill>
                  <a:srgbClr val="1B2130"/>
                </a:solidFill>
                <a:latin typeface="+mn-lt"/>
              </a:rPr>
              <a:t>Pooled out-of-fold ROC AUC</a:t>
            </a:r>
          </a:p>
        </c:rich>
      </c:tx>
      <c:overlay val="0"/>
    </c:title>
    <c:autoTitleDeleted val="0"/>
    <c:plotArea>
      <c:layout/>
      <c:barChart>
        <c:barDir val="bar"/>
        <c:grouping val="clustered"/>
        <c:varyColors val="0"/>
        <c:ser>
          <c:idx val="0"/>
          <c:order val="0"/>
          <c:tx>
            <c:strRef>
              <c:f>Sheet1!$B$1</c:f>
              <c:strCache>
                <c:ptCount val="1"/>
                <c:pt idx="0">
                  <c:v>ROC AUC</c:v>
                </c:pt>
              </c:strCache>
            </c:strRef>
          </c:tx>
          <c:spPr>
            <a:solidFill>
              <a:srgbClr val="0173B2"/>
            </a:solidFill>
            <a:effectLst/>
          </c:spPr>
          <c:invertIfNegative val="0"/>
          <c:dPt>
            <c:idx val="0"/>
            <c:invertIfNegative val="0"/>
            <c:bubble3D val="0"/>
            <c:spPr>
              <a:solidFill>
                <a:srgbClr val="0173B2"/>
              </a:solidFill>
              <a:effectLst/>
            </c:spPr>
            <c:extLst>
              <c:ext xmlns:c16="http://schemas.microsoft.com/office/drawing/2014/chart" uri="{C3380CC4-5D6E-409C-BE32-E72D297353CC}">
                <c16:uniqueId val="{00000001-90CA-2640-B9BE-098EC1C91565}"/>
              </c:ext>
            </c:extLst>
          </c:dPt>
          <c:dPt>
            <c:idx val="1"/>
            <c:invertIfNegative val="0"/>
            <c:bubble3D val="0"/>
            <c:spPr>
              <a:solidFill>
                <a:srgbClr val="DE8F05"/>
              </a:solidFill>
              <a:effectLst/>
            </c:spPr>
            <c:extLst>
              <c:ext xmlns:c16="http://schemas.microsoft.com/office/drawing/2014/chart" uri="{C3380CC4-5D6E-409C-BE32-E72D297353CC}">
                <c16:uniqueId val="{00000003-90CA-2640-B9BE-098EC1C91565}"/>
              </c:ext>
            </c:extLst>
          </c:dPt>
          <c:dPt>
            <c:idx val="2"/>
            <c:invertIfNegative val="0"/>
            <c:bubble3D val="0"/>
            <c:spPr>
              <a:solidFill>
                <a:srgbClr val="029E73"/>
              </a:solidFill>
              <a:effectLst/>
            </c:spPr>
            <c:extLst>
              <c:ext xmlns:c16="http://schemas.microsoft.com/office/drawing/2014/chart" uri="{C3380CC4-5D6E-409C-BE32-E72D297353CC}">
                <c16:uniqueId val="{00000005-90CA-2640-B9BE-098EC1C91565}"/>
              </c:ext>
            </c:extLst>
          </c:dPt>
          <c:dPt>
            <c:idx val="3"/>
            <c:invertIfNegative val="0"/>
            <c:bubble3D val="0"/>
            <c:spPr>
              <a:solidFill>
                <a:srgbClr val="D55E00"/>
              </a:solidFill>
              <a:effectLst/>
            </c:spPr>
            <c:extLst>
              <c:ext xmlns:c16="http://schemas.microsoft.com/office/drawing/2014/chart" uri="{C3380CC4-5D6E-409C-BE32-E72D297353CC}">
                <c16:uniqueId val="{00000007-90CA-2640-B9BE-098EC1C91565}"/>
              </c:ext>
            </c:extLst>
          </c:dPt>
          <c:dPt>
            <c:idx val="4"/>
            <c:invertIfNegative val="0"/>
            <c:bubble3D val="0"/>
            <c:spPr>
              <a:solidFill>
                <a:srgbClr val="CC78BC"/>
              </a:solidFill>
              <a:effectLst/>
            </c:spPr>
            <c:extLst>
              <c:ext xmlns:c16="http://schemas.microsoft.com/office/drawing/2014/chart" uri="{C3380CC4-5D6E-409C-BE32-E72D297353CC}">
                <c16:uniqueId val="{00000009-90CA-2640-B9BE-098EC1C91565}"/>
              </c:ext>
            </c:extLst>
          </c:dPt>
          <c:dPt>
            <c:idx val="5"/>
            <c:invertIfNegative val="0"/>
            <c:bubble3D val="0"/>
            <c:spPr>
              <a:solidFill>
                <a:srgbClr val="CA9161"/>
              </a:solidFill>
              <a:effectLst/>
            </c:spPr>
            <c:extLst>
              <c:ext xmlns:c16="http://schemas.microsoft.com/office/drawing/2014/chart" uri="{C3380CC4-5D6E-409C-BE32-E72D297353CC}">
                <c16:uniqueId val="{0000000B-90CA-2640-B9BE-098EC1C91565}"/>
              </c:ext>
            </c:extLst>
          </c:dPt>
          <c:dLbls>
            <c:numFmt formatCode="0.000" sourceLinked="0"/>
            <c:spPr>
              <a:noFill/>
              <a:ln>
                <a:noFill/>
              </a:ln>
              <a:effectLst/>
            </c:spPr>
            <c:txPr>
              <a:bodyPr/>
              <a:lstStyle/>
              <a:p>
                <a:pPr>
                  <a:defRPr sz="1200" b="0" i="0" u="none" strike="noStrike">
                    <a:solidFill>
                      <a:srgbClr val="1B213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Bayesian network</c:v>
                </c:pt>
                <c:pt idx="1">
                  <c:v>Naive Bayes</c:v>
                </c:pt>
                <c:pt idx="2">
                  <c:v>Logistic Regression</c:v>
                </c:pt>
                <c:pt idx="3">
                  <c:v>SVM</c:v>
                </c:pt>
                <c:pt idx="4">
                  <c:v>Random Forest</c:v>
                </c:pt>
                <c:pt idx="5">
                  <c:v>Gradient Boosting</c:v>
                </c:pt>
              </c:strCache>
            </c:strRef>
          </c:cat>
          <c:val>
            <c:numRef>
              <c:f>Sheet1!$B$2:$B$7</c:f>
              <c:numCache>
                <c:formatCode>General</c:formatCode>
                <c:ptCount val="6"/>
                <c:pt idx="0">
                  <c:v>0.91</c:v>
                </c:pt>
                <c:pt idx="1">
                  <c:v>0.90500000000000003</c:v>
                </c:pt>
                <c:pt idx="2">
                  <c:v>0.90400000000000003</c:v>
                </c:pt>
                <c:pt idx="3">
                  <c:v>0.90700000000000003</c:v>
                </c:pt>
                <c:pt idx="4">
                  <c:v>0.90300000000000002</c:v>
                </c:pt>
                <c:pt idx="5">
                  <c:v>0.89</c:v>
                </c:pt>
              </c:numCache>
            </c:numRef>
          </c:val>
          <c:extLst>
            <c:ext xmlns:c16="http://schemas.microsoft.com/office/drawing/2014/chart" uri="{C3380CC4-5D6E-409C-BE32-E72D297353CC}">
              <c16:uniqueId val="{0000000C-90CA-2640-B9BE-098EC1C91565}"/>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130"/>
                </a:solidFill>
                <a:latin typeface="+mn-lt"/>
              </a:defRPr>
            </a:pPr>
            <a:endParaRPr lang="en-US"/>
          </a:p>
        </c:txPr>
        <c:crossAx val="2094734552"/>
        <c:crosses val="autoZero"/>
        <c:auto val="1"/>
        <c:lblAlgn val="ctr"/>
        <c:lblOffset val="100"/>
        <c:noMultiLvlLbl val="1"/>
      </c:catAx>
      <c:valAx>
        <c:axId val="2094734552"/>
        <c:scaling>
          <c:orientation val="minMax"/>
          <c:max val="0.95"/>
          <c:min val="0.8"/>
        </c:scaling>
        <c:delete val="0"/>
        <c:axPos val="t"/>
        <c:majorGridlines>
          <c:spPr>
            <a:ln w="6350" cap="flat">
              <a:solidFill>
                <a:srgbClr val="D5D9E0"/>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475"/>
                </a:solidFill>
                <a:latin typeface="+mn-lt"/>
              </a:defRPr>
            </a:pPr>
            <a:endParaRPr lang="en-US"/>
          </a:p>
        </c:txPr>
        <c:crossAx val="2094734554"/>
        <c:crosses val="autoZero"/>
        <c:crossBetween val="between"/>
        <c:majorUnit val="0.0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4819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Hardik opens. One-line framing: an academic machine-learning comparison on a public dataset, not a diagnostic system. Phase 1 covers six classical models; each team member presents the part they built.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slide shows its presenter in the top-right corner. Order: Hardik (data), Ayush (evaluation design and Bayesian network), Kabir (Naive Bayes), Akshith (Logistic Regression, SVM and the comparison), Vansh (ensembles, tuning and feature importance), Ayush (are the differences real), Kabir (demo).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first. All six models discriminate well (ROC AUC 0.890 to 0.910). The highest ROC AUC is Bayesian Network and the highest accuracy SVM, but among the top five the differences are much smaller than the uncertainty, so we do not claim a winner.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processed.cleveland.data (CC BY 4.0); the archive itself warns that the raw cleveland.data file is corrupted. The verification script checks the archive, the column count, value domains and duplicates before anything else runs.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Descriptive only; correlation is not causation. The full EDA notebook is notebooks/01_eda.ipynb.</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Leakage means test information sneaking into training. If we scaled with the mean of all 303 patients, the held-out patients would influence the model. So the whole pipeline is refitted inside each training fold.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Hard-label metrics use a fixed threshold of 0.5 chosen in advance. Uncertainty: mean ± standard deviation over the 25 folds, plus a patient-level bootstrap (2000 resamples) for 95% intervals.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Joint distribution factorises as the product of P(node | parents). Blue edges are clinical reasoning, orange weak, green added to relax Naive Bayes independence. Most chosen pseudo-count: 10 (25 of 25 folds). Implemented with pgmpy.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Implemented with scikit-learn's CategoricalNB. Domingos and Pazzani (1997) explain why Naive Bayes ranks well even when independence is violated.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use the numeric pipeline (imputation, standardisation, one-hot). Standardisation matters for both: the L2 penalty and the RBF distance are scale-dependent. Implemented with scikit-learn.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use the same numeric pipeline as Logistic Regression (trees do not need scaling, but sharing the pipeline keeps the comparison simple). Implemented with scikit-learn.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nested: if we tuned on the same folds we report on, the score would be optimistic (Varma and Simon 2006; Cawley and Talbot 2010). The outer held-out labels are never used for choosing settings. Grids were declared before the Phase 1 run. The Bayesian network and Naive Bayes chose the largest smoothing value (10) in every fold: more smoothing kept making their over-confident probabilities more cautious. We report this rather than keep widening the grid after seeing results.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run_evaluation.py trains and evaluates all six models on the same 25 folds and writes every table and figure. Brier: lower is better; it measures how good the probabilities are, not just the yes/no calls.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all models are scored on exactly the same patients, the bootstrap is paired. Intervals that exclude zero: Bayesian Network - Gradient Boosting (ROC AUC +0.020); Logistic Regression - Gradient Boosting (accuracy +0.029); SVM - Gradient Boosting (accuracy +0.030); SVM - Gradient Boosting (ROC AUC +0.017); Random Forest - Gradient Boosting (accuracy +0.016); Random Forest - Gradient Boosting (ROC AUC +0.013). With 30 comparisons, one or two such intervals are expected by chance, so we treat them as weak evidence.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Computed on the five repeat-0 outer folds with the hyper-parameters chosen in each fold; 30 shuffles per feature. ca = vessels coloured by fluoroscopy, cp = chest pain type, thal = thallium scan. Correlated features share credit, so a low rank does not mean irrelevant.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about two minutes: .venv/bin/python -m streamlit run app/streamlit_app.py, open localhost:8501. Show Model results, then Risk estimator: press Estimate with the defaults, then change ca to 3 and thal to reversible defect and press Estimate again.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three databases in the UCI archive give a natural external test set.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why nested CV (avoid optimistic scores); why stratified folds (keep the class balance); why the Bayesian network needs discrete inputs (conditional probability tables); why standardise for LR and SVM (penalty and kernel are scale-dependent); bagging vs boosting.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554480"/>
            <a:ext cx="10698480" cy="146304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200400"/>
            <a:ext cx="10058400" cy="822960"/>
          </a:xfrm>
          <a:prstGeom prst="rect">
            <a:avLst/>
          </a:prstGeom>
          <a:noFill/>
          <a:ln/>
        </p:spPr>
        <p:txBody>
          <a:bodyPr wrap="square" rtlCol="0"/>
          <a:lstStyle>
            <a:lvl1pPr marL="0" indent="0">
              <a:buNone/>
              <a:defRPr lang="en-US" sz="2000" dirty="0">
                <a:solidFill>
                  <a:schemeClr val="accent6"/>
                </a:solidFill>
              </a:defRPr>
            </a:lvl1pPr>
          </a:lstStyle>
          <a:p>
            <a:pPr marL="0" indent="0">
              <a:buNone/>
            </a:pPr>
            <a:endParaRPr lang="en-US" sz="2000" dirty="0"/>
          </a:p>
        </p:txBody>
      </p:sp>
      <p:sp>
        <p:nvSpPr>
          <p:cNvPr id="4" name="Text 0"/>
          <p:cNvSpPr>
            <a:spLocks noGrp="1"/>
          </p:cNvSpPr>
          <p:nvPr>
            <p:ph type="body" idx="102" hasCustomPrompt="1"/>
          </p:nvPr>
        </p:nvSpPr>
        <p:spPr>
          <a:xfrm>
            <a:off x="731520" y="4754880"/>
            <a:ext cx="10698480" cy="1371600"/>
          </a:xfrm>
          <a:prstGeom prst="rect">
            <a:avLst/>
          </a:prstGeom>
          <a:noFill/>
          <a:ln/>
        </p:spPr>
        <p:txBody>
          <a:bodyPr wrap="square" rtlCol="0"/>
          <a:lstStyle>
            <a:lvl1pPr marL="0" indent="0">
              <a:buNone/>
              <a:defRPr lang="en-US" sz="1600" dirty="0">
                <a:solidFill>
                  <a:schemeClr val="bg1"/>
                </a:solidFill>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9144000" cy="777240"/>
          </a:xfrm>
          <a:prstGeom prst="rect">
            <a:avLst/>
          </a:prstGeom>
          <a:noFill/>
          <a:ln/>
        </p:spPr>
        <p:txBody>
          <a:bodyPr wrap="square" rtlCol="0"/>
          <a:lstStyle>
            <a:lvl1pPr marL="0" indent="0" algn="l">
              <a:buNone/>
              <a:defRPr lang="en-US" sz="32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Heart disease risk modelling · Phase 1 · academic study, not a diagnostic tool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548640"/>
            <a:ext cx="10698480" cy="822960"/>
          </a:xfrm>
          <a:prstGeom prst="rect">
            <a:avLst/>
          </a:prstGeom>
          <a:noFill/>
          <a:ln/>
        </p:spPr>
        <p:txBody>
          <a:bodyPr wrap="square" rtlCol="0"/>
          <a:lstStyle>
            <a:lvl1pPr marL="0" indent="0" algn="l">
              <a:buNone/>
              <a:defRPr lang="en-US" sz="38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554480"/>
            <a:ext cx="10698480" cy="1463040"/>
          </a:xfrm>
          <a:prstGeom prst="rect">
            <a:avLst/>
          </a:prstGeom>
          <a:noFill/>
          <a:ln/>
        </p:spPr>
        <p:txBody>
          <a:bodyPr wrap="square" lIns="0" tIns="0" rIns="0" bIns="0" rtlCol="0" anchor="b"/>
          <a:lstStyle/>
          <a:p>
            <a:pPr marL="0" indent="0" algn="l">
              <a:buNone/>
            </a:pPr>
            <a:r>
              <a:rPr lang="en-US" sz="4400" b="1" dirty="0">
                <a:solidFill>
                  <a:schemeClr val="bg1"/>
                </a:solidFill>
                <a:latin typeface="Cambria" pitchFamily="34" charset="0"/>
                <a:ea typeface="Cambria" pitchFamily="34" charset="-122"/>
                <a:cs typeface="Cambria" pitchFamily="34" charset="-120"/>
              </a:rPr>
              <a:t>Heart Disease Risk Modelling</a:t>
            </a:r>
            <a:endParaRPr lang="en-US" sz="4400" dirty="0"/>
          </a:p>
        </p:txBody>
      </p:sp>
      <p:sp>
        <p:nvSpPr>
          <p:cNvPr id="3" name="Text 0"/>
          <p:cNvSpPr>
            <a:spLocks noGrp="1"/>
          </p:cNvSpPr>
          <p:nvPr>
            <p:ph type="body" idx="101" hasCustomPrompt="1"/>
          </p:nvPr>
        </p:nvSpPr>
        <p:spPr>
          <a:xfrm>
            <a:off x="731520" y="3200400"/>
            <a:ext cx="10058400" cy="822960"/>
          </a:xfrm>
          <a:prstGeom prst="rect">
            <a:avLst/>
          </a:prstGeom>
          <a:noFill/>
          <a:ln/>
        </p:spPr>
        <p:txBody>
          <a:bodyPr wrap="square" lIns="0" tIns="0" rIns="0" bIns="0" rtlCol="0" anchor="t"/>
          <a:lstStyle/>
          <a:p>
            <a:pPr marL="0" indent="0">
              <a:buNone/>
            </a:pPr>
            <a:r>
              <a:rPr lang="en-US" sz="2000" dirty="0">
                <a:solidFill>
                  <a:schemeClr val="accent6"/>
                </a:solidFill>
              </a:rPr>
              <a:t>Phase 1: six machine-learning classifiers on 303 Cleveland patients, compared under one leakage-safe nested cross-validation</a:t>
            </a:r>
            <a:endParaRPr lang="en-US" sz="2000" dirty="0"/>
          </a:p>
        </p:txBody>
      </p:sp>
      <p:sp>
        <p:nvSpPr>
          <p:cNvPr id="4" name="Text 0"/>
          <p:cNvSpPr>
            <a:spLocks noGrp="1"/>
          </p:cNvSpPr>
          <p:nvPr>
            <p:ph type="body" idx="102" hasCustomPrompt="1"/>
          </p:nvPr>
        </p:nvSpPr>
        <p:spPr>
          <a:xfrm>
            <a:off x="731520" y="4754880"/>
            <a:ext cx="10698480" cy="1371600"/>
          </a:xfrm>
          <a:prstGeom prst="rect">
            <a:avLst/>
          </a:prstGeom>
          <a:noFill/>
          <a:ln/>
        </p:spPr>
        <p:txBody>
          <a:bodyPr wrap="square" lIns="0" tIns="0" rIns="0" bIns="0" rtlCol="0" anchor="t"/>
          <a:lstStyle/>
          <a:p>
            <a:pPr marL="0" indent="0">
              <a:buNone/>
            </a:pPr>
            <a:r>
              <a:rPr lang="en-US" sz="2200" b="1" dirty="0">
                <a:solidFill>
                  <a:schemeClr val="bg1"/>
                </a:solidFill>
              </a:rPr>
              <a:t>Ayush  ·  Vansh  ·  Hardik  ·  Akshith  ·  Kabir</a:t>
            </a:r>
            <a:endParaRPr lang="en-US" sz="1600" dirty="0"/>
          </a:p>
          <a:p>
            <a:pPr marL="0" indent="0">
              <a:spcBef>
                <a:spcPts val="1000"/>
              </a:spcBef>
              <a:buNone/>
            </a:pPr>
            <a:r>
              <a:rPr lang="en-US" sz="2000" b="1" dirty="0">
                <a:solidFill>
                  <a:schemeClr val="accent6"/>
                </a:solidFill>
              </a:rPr>
              <a:t>Advanced Machine Learning  ·  Rishihood University</a:t>
            </a:r>
          </a:p>
          <a:p>
            <a:pPr marL="0" indent="0">
              <a:spcBef>
                <a:spcPts val="600"/>
              </a:spcBef>
              <a:buNone/>
            </a:pPr>
            <a:r>
              <a:rPr lang="en-US" sz="1400" dirty="0">
                <a:solidFill>
                  <a:schemeClr val="accent6"/>
                </a:solidFill>
              </a:rPr>
              <a:t>October 2026</a:t>
            </a:r>
          </a:p>
        </p:txBody>
      </p:sp>
      <p:pic>
        <p:nvPicPr>
          <p:cNvPr id="5" name="heart icon" descr="preencoded.png"/>
          <p:cNvPicPr>
            <a:picLocks noChangeAspect="1"/>
          </p:cNvPicPr>
          <p:nvPr/>
        </p:nvPicPr>
        <p:blipFill>
          <a:blip r:embed="rId3"/>
          <a:stretch>
            <a:fillRect/>
          </a:stretch>
        </p:blipFill>
        <p:spPr>
          <a:xfrm>
            <a:off x="731520" y="640080"/>
            <a:ext cx="822960" cy="822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 name="Text 0"/>
          <p:cNvSpPr>
            <a:spLocks noGrp="1"/>
          </p:cNvSpPr>
          <p:nvPr>
            <p:ph type="title" idx="100" hasCustomPrompt="1"/>
          </p:nvPr>
        </p:nvSpPr>
        <p:spPr>
          <a:xfrm>
            <a:off x="548640" y="365760"/>
            <a:ext cx="914400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Team and roles</a:t>
            </a:r>
            <a:endParaRPr lang="en-US" sz="3200" dirty="0"/>
          </a:p>
        </p:txBody>
      </p:sp>
      <p:graphicFrame>
        <p:nvGraphicFramePr>
          <p:cNvPr id="5" name="team table"/>
          <p:cNvGraphicFramePr>
            <a:graphicFrameLocks noGrp="1"/>
          </p:cNvGraphicFramePr>
          <p:nvPr>
            <p:extLst>
              <p:ext uri="{D42A27DB-BD31-4B8C-83A1-F6EECF244321}">
                <p14:modId xmlns:p14="http://schemas.microsoft.com/office/powerpoint/2010/main" val="3796194893"/>
              </p:ext>
            </p:extLst>
          </p:nvPr>
        </p:nvGraphicFramePr>
        <p:xfrm>
          <a:off x="548640" y="1417320"/>
          <a:ext cx="11064240" cy="4343400"/>
        </p:xfrm>
        <a:graphic>
          <a:graphicData uri="http://schemas.openxmlformats.org/drawingml/2006/table">
            <a:tbl>
              <a:tblPr/>
              <a:tblGrid>
                <a:gridCol w="155448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457200">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Member</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Phase 1 work</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Explains in the viva</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77240">
                <a:tc>
                  <a:txBody>
                    <a:bodyPr/>
                    <a:lstStyle/>
                    <a:p>
                      <a:pPr marL="0" indent="0">
                        <a:buNone/>
                      </a:pPr>
                      <a:r>
                        <a:rPr lang="en-US" sz="2000" cap="all" b="1" dirty="0">
                          <a:solidFill>
                            <a:schemeClr val="bg1"/>
                          </a:solidFill>
                          <a:latin typeface="Calibri" pitchFamily="34" charset="0"/>
                          <a:ea typeface="Calibri" pitchFamily="34" charset="-122"/>
                          <a:cs typeface="Calibri" pitchFamily="34" charset="-120"/>
                        </a:rPr>
                        <a:t>Ayush</a:t>
                      </a:r>
                      <a:endParaRPr lang="en-US" sz="20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Data loading, verification, EDA and notebook, preprocessing / feature engineering</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Dataset quality and EDA, feature engineering</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777240">
                <a:tc>
                  <a:txBody>
                    <a:bodyPr/>
                    <a:lstStyle/>
                    <a:p>
                      <a:pPr marL="0" indent="0">
                        <a:buNone/>
                      </a:pPr>
                      <a:r>
                        <a:rPr lang="en-US" sz="2000" cap="all" b="1" dirty="0">
                          <a:solidFill>
                            <a:schemeClr val="bg1"/>
                          </a:solidFill>
                          <a:latin typeface="Calibri" pitchFamily="34" charset="0"/>
                          <a:ea typeface="Calibri" charset="0"/>
                          <a:cs typeface="Calibri" pitchFamily="34" charset="-120"/>
                        </a:rPr>
                        <a:t>Vansh</a:t>
                      </a:r>
                      <a:endParaRPr lang="en-US" sz="20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Bayesian network (structure, conditional probability tables, inference), data splits, metrics, Methods page</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Theoretical rigour (probabilistic graphical models)</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77240">
                <a:tc>
                  <a:txBody>
                    <a:bodyPr/>
                    <a:lstStyle/>
                    <a:p>
                      <a:pPr marL="0" indent="0">
                        <a:buNone/>
                      </a:pPr>
                      <a:r>
                        <a:rPr lang="en-US" sz="2000" cap="all" b="1" dirty="0">
                          <a:solidFill>
                            <a:schemeClr val="bg1"/>
                          </a:solidFill>
                          <a:latin typeface="Calibri" pitchFamily="34" charset="0"/>
                          <a:ea typeface="Calibri" pitchFamily="34" charset="-122"/>
                          <a:cs typeface="Calibri" pitchFamily="34" charset="-120"/>
                        </a:rPr>
                        <a:t>Hardik</a:t>
                      </a:r>
                      <a:endParaRPr lang="en-US" sz="20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Logistic Regression and SVM, model pipelines, the script that trains and compares all models</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Model application (linear and kernel models)</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777240">
                <a:tc>
                  <a:txBody>
                    <a:bodyPr/>
                    <a:lstStyle/>
                    <a:p>
                      <a:pPr marL="0" indent="0">
                        <a:buNone/>
                      </a:pPr>
                      <a:r>
                        <a:rPr lang="en-US" sz="2000" cap="all" b="1" dirty="0">
                          <a:solidFill>
                            <a:schemeClr val="bg1"/>
                          </a:solidFill>
                          <a:latin typeface="Calibri" pitchFamily="34" charset="0"/>
                          <a:ea typeface="Calibri" pitchFamily="34" charset="-122"/>
                          <a:cs typeface="Calibri" pitchFamily="34" charset="-120"/>
                        </a:rPr>
                        <a:t>Akshith</a:t>
                      </a:r>
                      <a:endParaRPr lang="en-US" sz="20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Random Forest and Gradient Boosting, hyper-parameter tuning (nested CV), feature importance</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Model application (ensembles), tuning</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777240">
                <a:tc>
                  <a:txBody>
                    <a:bodyPr/>
                    <a:lstStyle/>
                    <a:p>
                      <a:pPr marL="0" indent="0">
                        <a:buNone/>
                      </a:pPr>
                      <a:r>
                        <a:rPr lang="en-US" sz="2000" cap="all" b="1" dirty="0">
                          <a:solidFill>
                            <a:schemeClr val="bg1"/>
                          </a:solidFill>
                          <a:latin typeface="Calibri" pitchFamily="34" charset="0"/>
                          <a:ea typeface="Calibri" pitchFamily="34" charset="-122"/>
                          <a:cs typeface="Calibri" pitchFamily="34" charset="-120"/>
                        </a:rPr>
                        <a:t>Kabir</a:t>
                      </a:r>
                      <a:endParaRPr lang="en-US" sz="20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Naive Bayes, the web app (adapted to the ML models only)</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Model application, demo</a:t>
                      </a:r>
                      <a:endParaRPr lang="en-US" sz="1400" dirty="0">
                        <a:latin typeface="Calibri" charset="0"/>
                        <a:ea typeface="Calibri" charset="0"/>
                        <a:cs typeface="Calibri" charset="0"/>
                      </a:endParaRPr>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4" name="Text 0"/>
          <p:cNvSpPr>
            <a:spLocks noGrp="1"/>
          </p:cNvSpPr>
          <p:nvPr>
            <p:ph type="title" idx="100" hasCustomPrompt="1"/>
          </p:nvPr>
        </p:nvSpPr>
        <p:spPr>
          <a:xfrm>
            <a:off x="548640" y="365760"/>
            <a:ext cx="914400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The question, and the short answer</a:t>
            </a:r>
            <a:endParaRPr lang="en-US" sz="3200" dirty="0"/>
          </a:p>
        </p:txBody>
      </p:sp>
      <p:sp>
        <p:nvSpPr>
          <p:cNvPr id="5" name="question card"/>
          <p:cNvSpPr/>
          <p:nvPr/>
        </p:nvSpPr>
        <p:spPr>
          <a:xfrm>
            <a:off x="548640" y="1417320"/>
            <a:ext cx="4206240" cy="4663440"/>
          </a:xfrm>
          <a:prstGeom prst="roundRect">
            <a:avLst>
              <a:gd name="adj" fmla="val 2609"/>
            </a:avLst>
          </a:prstGeom>
          <a:solidFill>
            <a:schemeClr val="tx2"/>
          </a:solidFill>
          <a:ln/>
        </p:spPr>
        <p:txBody>
          <a:bodyPr/>
          <a:lstStyle/>
          <a:p>
            <a:endParaRPr lang="en-US"/>
          </a:p>
        </p:txBody>
      </p:sp>
      <p:sp>
        <p:nvSpPr>
          <p:cNvPr id="6" name="Text 4"/>
          <p:cNvSpPr txBox="1"/>
          <p:nvPr/>
        </p:nvSpPr>
        <p:spPr>
          <a:xfrm>
            <a:off x="868680" y="1691640"/>
            <a:ext cx="3566160" cy="320040"/>
          </a:xfrm>
          <a:prstGeom prst="rect">
            <a:avLst/>
          </a:prstGeom>
          <a:noFill/>
          <a:ln/>
        </p:spPr>
        <p:txBody>
          <a:bodyPr wrap="square" lIns="0" tIns="0" rIns="0" bIns="0" rtlCol="0" anchor="t"/>
          <a:lstStyle/>
          <a:p>
            <a:pPr marL="0" indent="0">
              <a:buNone/>
            </a:pPr>
            <a:r>
              <a:rPr lang="en-US" sz="1200" b="1" kern="0" spc="200" dirty="0">
                <a:solidFill>
                  <a:schemeClr val="accent6"/>
                </a:solidFill>
              </a:rPr>
              <a:t>RESEARCH QUESTION</a:t>
            </a:r>
            <a:endParaRPr lang="en-US" sz="1200" dirty="0"/>
          </a:p>
        </p:txBody>
      </p:sp>
      <p:sp>
        <p:nvSpPr>
          <p:cNvPr id="7" name="Text 5"/>
          <p:cNvSpPr txBox="1"/>
          <p:nvPr/>
        </p:nvSpPr>
        <p:spPr>
          <a:xfrm>
            <a:off x="868680" y="2103120"/>
            <a:ext cx="3566160" cy="2377440"/>
          </a:xfrm>
          <a:prstGeom prst="rect">
            <a:avLst/>
          </a:prstGeom>
          <a:noFill/>
          <a:ln/>
        </p:spPr>
        <p:txBody>
          <a:bodyPr wrap="square" lIns="0" tIns="0" rIns="0" bIns="0" rtlCol="0" anchor="t"/>
          <a:lstStyle/>
          <a:p>
            <a:pPr marL="0" indent="0">
              <a:buNone/>
            </a:pPr>
            <a:r>
              <a:rPr lang="en-US" sz="1900" dirty="0">
                <a:solidFill>
                  <a:schemeClr val="bg1"/>
                </a:solidFill>
                <a:latin typeface="Cambria" pitchFamily="34" charset="0"/>
                <a:ea typeface="Cambria" pitchFamily="34" charset="-122"/>
                <a:cs typeface="Cambria" pitchFamily="34" charset="-120"/>
              </a:rPr>
              <a:t>Can classical machine-learning models predict angiographic heart disease from 13 clinical and test variables, and does the choice of model matter?</a:t>
            </a:r>
            <a:endParaRPr lang="en-US" sz="1900" dirty="0"/>
          </a:p>
        </p:txBody>
      </p:sp>
      <p:sp>
        <p:nvSpPr>
          <p:cNvPr id="8" name="Text 6"/>
          <p:cNvSpPr txBox="1"/>
          <p:nvPr/>
        </p:nvSpPr>
        <p:spPr>
          <a:xfrm>
            <a:off x="868680" y="4846320"/>
            <a:ext cx="3566160" cy="822960"/>
          </a:xfrm>
          <a:prstGeom prst="rect">
            <a:avLst/>
          </a:prstGeom>
          <a:noFill/>
          <a:ln/>
        </p:spPr>
        <p:txBody>
          <a:bodyPr wrap="square" lIns="0" tIns="0" rIns="0" bIns="0" rtlCol="0" anchor="t"/>
          <a:lstStyle/>
          <a:p>
            <a:pPr marL="0" indent="0">
              <a:buNone/>
            </a:pPr>
            <a:r>
              <a:rPr lang="en-US" sz="1600" i="1" dirty="0">
                <a:solidFill>
                  <a:schemeClr val="accent6"/>
                </a:solidFill>
              </a:rPr>
              <a:t>Six models, the same folds, the same metrics, 303 patients.</a:t>
            </a:r>
            <a:endParaRPr lang="en-US" sz="1600" dirty="0"/>
          </a:p>
        </p:txBody>
      </p:sp>
      <p:sp>
        <p:nvSpPr>
          <p:cNvPr id="9" name="answer card 1"/>
          <p:cNvSpPr/>
          <p:nvPr/>
        </p:nvSpPr>
        <p:spPr>
          <a:xfrm>
            <a:off x="5120640" y="1417320"/>
            <a:ext cx="6492240" cy="1371600"/>
          </a:xfrm>
          <a:prstGeom prst="roundRect">
            <a:avLst>
              <a:gd name="adj" fmla="val 8000"/>
            </a:avLst>
          </a:prstGeom>
          <a:solidFill>
            <a:schemeClr val="bg2"/>
          </a:solidFill>
          <a:ln/>
        </p:spPr>
        <p:txBody>
          <a:bodyPr/>
          <a:lstStyle/>
          <a:p>
            <a:endParaRPr lang="en-US"/>
          </a:p>
        </p:txBody>
      </p:sp>
      <p:sp>
        <p:nvSpPr>
          <p:cNvPr id="10" name="answer 1 circle"/>
          <p:cNvSpPr/>
          <p:nvPr/>
        </p:nvSpPr>
        <p:spPr>
          <a:xfrm>
            <a:off x="5349240" y="1737360"/>
            <a:ext cx="731520" cy="731520"/>
          </a:xfrm>
          <a:prstGeom prst="ellipse">
            <a:avLst/>
          </a:prstGeom>
          <a:solidFill>
            <a:schemeClr val="accent3"/>
          </a:solidFill>
          <a:ln/>
        </p:spPr>
        <p:txBody>
          <a:bodyPr/>
          <a:lstStyle/>
          <a:p>
            <a:endParaRPr lang="en-US"/>
          </a:p>
        </p:txBody>
      </p:sp>
      <p:pic>
        <p:nvPicPr>
          <p:cNvPr id="11" name="answer 1 icon" descr="preencoded.png"/>
          <p:cNvPicPr>
            <a:picLocks noChangeAspect="1"/>
          </p:cNvPicPr>
          <p:nvPr/>
        </p:nvPicPr>
        <p:blipFill>
          <a:blip r:embed="rId3"/>
          <a:stretch>
            <a:fillRect/>
          </a:stretch>
        </p:blipFill>
        <p:spPr>
          <a:xfrm>
            <a:off x="5532120" y="1920240"/>
            <a:ext cx="365760" cy="365760"/>
          </a:xfrm>
          <a:prstGeom prst="rect">
            <a:avLst/>
          </a:prstGeom>
        </p:spPr>
      </p:pic>
      <p:sp>
        <p:nvSpPr>
          <p:cNvPr id="12" name="Text 9"/>
          <p:cNvSpPr txBox="1"/>
          <p:nvPr/>
        </p:nvSpPr>
        <p:spPr>
          <a:xfrm>
            <a:off x="6309360" y="1600200"/>
            <a:ext cx="5120640" cy="365760"/>
          </a:xfrm>
          <a:prstGeom prst="rect">
            <a:avLst/>
          </a:prstGeom>
          <a:noFill/>
          <a:ln/>
        </p:spPr>
        <p:txBody>
          <a:bodyPr wrap="square" lIns="0" tIns="0" rIns="0" bIns="0" rtlCol="0" anchor="t"/>
          <a:lstStyle/>
          <a:p>
            <a:pPr marL="0" indent="0">
              <a:buNone/>
            </a:pPr>
            <a:r>
              <a:rPr lang="en-US" sz="1800" b="1" dirty="0">
                <a:solidFill>
                  <a:schemeClr val="tx2"/>
                </a:solidFill>
              </a:rPr>
              <a:t>Yes, they predict well</a:t>
            </a:r>
            <a:endParaRPr lang="en-US" sz="1800" dirty="0"/>
          </a:p>
        </p:txBody>
      </p:sp>
      <p:sp>
        <p:nvSpPr>
          <p:cNvPr id="13" name="Text 10"/>
          <p:cNvSpPr txBox="1"/>
          <p:nvPr/>
        </p:nvSpPr>
        <p:spPr>
          <a:xfrm>
            <a:off x="6309360" y="1984248"/>
            <a:ext cx="5120640" cy="731520"/>
          </a:xfrm>
          <a:prstGeom prst="rect">
            <a:avLst/>
          </a:prstGeom>
          <a:noFill/>
          <a:ln/>
        </p:spPr>
        <p:txBody>
          <a:bodyPr wrap="square" lIns="0" tIns="0" rIns="0" bIns="0" rtlCol="0" anchor="t"/>
          <a:lstStyle/>
          <a:p>
            <a:pPr marL="0" indent="0">
              <a:buNone/>
            </a:pPr>
            <a:r>
              <a:rPr lang="en-US" sz="1400" dirty="0">
                <a:solidFill>
                  <a:schemeClr val="tx1"/>
                </a:solidFill>
              </a:rPr>
              <a:t>ROC AUC 0.89–0.91 and accuracy 81.8%–84.9% on patients the models had not seen.</a:t>
            </a:r>
            <a:endParaRPr lang="en-US" sz="1400" dirty="0"/>
          </a:p>
        </p:txBody>
      </p:sp>
      <p:sp>
        <p:nvSpPr>
          <p:cNvPr id="14" name="answer card 2"/>
          <p:cNvSpPr/>
          <p:nvPr/>
        </p:nvSpPr>
        <p:spPr>
          <a:xfrm>
            <a:off x="5120640" y="3017520"/>
            <a:ext cx="6492240" cy="1371600"/>
          </a:xfrm>
          <a:prstGeom prst="roundRect">
            <a:avLst>
              <a:gd name="adj" fmla="val 8000"/>
            </a:avLst>
          </a:prstGeom>
          <a:solidFill>
            <a:schemeClr val="bg2"/>
          </a:solidFill>
          <a:ln/>
        </p:spPr>
        <p:txBody>
          <a:bodyPr/>
          <a:lstStyle/>
          <a:p>
            <a:endParaRPr lang="en-US"/>
          </a:p>
        </p:txBody>
      </p:sp>
      <p:sp>
        <p:nvSpPr>
          <p:cNvPr id="15" name="answer 2 circle"/>
          <p:cNvSpPr/>
          <p:nvPr/>
        </p:nvSpPr>
        <p:spPr>
          <a:xfrm>
            <a:off x="5349240" y="3337560"/>
            <a:ext cx="731520" cy="731520"/>
          </a:xfrm>
          <a:prstGeom prst="ellipse">
            <a:avLst/>
          </a:prstGeom>
          <a:solidFill>
            <a:schemeClr val="accent1"/>
          </a:solidFill>
          <a:ln/>
        </p:spPr>
        <p:txBody>
          <a:bodyPr/>
          <a:lstStyle/>
          <a:p>
            <a:endParaRPr lang="en-US"/>
          </a:p>
        </p:txBody>
      </p:sp>
      <p:pic>
        <p:nvPicPr>
          <p:cNvPr id="16" name="answer 2 icon" descr="preencoded.png"/>
          <p:cNvPicPr>
            <a:picLocks noChangeAspect="1"/>
          </p:cNvPicPr>
          <p:nvPr/>
        </p:nvPicPr>
        <p:blipFill>
          <a:blip r:embed="rId4"/>
          <a:stretch>
            <a:fillRect/>
          </a:stretch>
        </p:blipFill>
        <p:spPr>
          <a:xfrm>
            <a:off x="5532120" y="3520440"/>
            <a:ext cx="365760" cy="365760"/>
          </a:xfrm>
          <a:prstGeom prst="rect">
            <a:avLst/>
          </a:prstGeom>
        </p:spPr>
      </p:pic>
      <p:sp>
        <p:nvSpPr>
          <p:cNvPr id="17" name="Text 13"/>
          <p:cNvSpPr txBox="1"/>
          <p:nvPr/>
        </p:nvSpPr>
        <p:spPr>
          <a:xfrm>
            <a:off x="6309360" y="3200400"/>
            <a:ext cx="5120640" cy="365760"/>
          </a:xfrm>
          <a:prstGeom prst="rect">
            <a:avLst/>
          </a:prstGeom>
          <a:noFill/>
          <a:ln/>
        </p:spPr>
        <p:txBody>
          <a:bodyPr wrap="square" lIns="0" tIns="0" rIns="0" bIns="0" rtlCol="0" anchor="t"/>
          <a:lstStyle/>
          <a:p>
            <a:pPr marL="0" indent="0">
              <a:buNone/>
            </a:pPr>
            <a:r>
              <a:rPr lang="en-US" sz="1800" b="1" dirty="0">
                <a:solidFill>
                  <a:schemeClr val="tx2"/>
                </a:solidFill>
              </a:rPr>
              <a:t>The choice of model barely matters</a:t>
            </a:r>
            <a:endParaRPr lang="en-US" sz="1800" dirty="0"/>
          </a:p>
        </p:txBody>
      </p:sp>
      <p:sp>
        <p:nvSpPr>
          <p:cNvPr id="18" name="Text 14"/>
          <p:cNvSpPr txBox="1"/>
          <p:nvPr/>
        </p:nvSpPr>
        <p:spPr>
          <a:xfrm>
            <a:off x="6309360" y="3584448"/>
            <a:ext cx="5120640" cy="731520"/>
          </a:xfrm>
          <a:prstGeom prst="rect">
            <a:avLst/>
          </a:prstGeom>
          <a:noFill/>
          <a:ln/>
        </p:spPr>
        <p:txBody>
          <a:bodyPr wrap="square" lIns="0" tIns="0" rIns="0" bIns="0" rtlCol="0" anchor="t"/>
          <a:lstStyle/>
          <a:p>
            <a:pPr marL="0" indent="0">
              <a:buNone/>
            </a:pPr>
            <a:r>
              <a:rPr lang="en-US" sz="1400" dirty="0">
                <a:solidFill>
                  <a:schemeClr val="tx1"/>
                </a:solidFill>
              </a:rPr>
              <a:t>Five models cannot be told apart; Gradient Boosting is slightly behind. Every other paired difference includes zero.</a:t>
            </a:r>
            <a:endParaRPr lang="en-US" sz="1400" dirty="0"/>
          </a:p>
        </p:txBody>
      </p:sp>
      <p:sp>
        <p:nvSpPr>
          <p:cNvPr id="19" name="answer card 3"/>
          <p:cNvSpPr/>
          <p:nvPr/>
        </p:nvSpPr>
        <p:spPr>
          <a:xfrm>
            <a:off x="5120640" y="4617720"/>
            <a:ext cx="6492240" cy="1371600"/>
          </a:xfrm>
          <a:prstGeom prst="roundRect">
            <a:avLst>
              <a:gd name="adj" fmla="val 8000"/>
            </a:avLst>
          </a:prstGeom>
          <a:solidFill>
            <a:schemeClr val="bg2"/>
          </a:solidFill>
          <a:ln/>
        </p:spPr>
        <p:txBody>
          <a:bodyPr/>
          <a:lstStyle/>
          <a:p>
            <a:endParaRPr lang="en-US"/>
          </a:p>
        </p:txBody>
      </p:sp>
      <p:sp>
        <p:nvSpPr>
          <p:cNvPr id="20" name="answer 3 circle"/>
          <p:cNvSpPr/>
          <p:nvPr/>
        </p:nvSpPr>
        <p:spPr>
          <a:xfrm>
            <a:off x="5349240" y="4937760"/>
            <a:ext cx="731520" cy="731520"/>
          </a:xfrm>
          <a:prstGeom prst="ellipse">
            <a:avLst/>
          </a:prstGeom>
          <a:solidFill>
            <a:schemeClr val="accent4"/>
          </a:solidFill>
          <a:ln/>
        </p:spPr>
        <p:txBody>
          <a:bodyPr/>
          <a:lstStyle/>
          <a:p>
            <a:endParaRPr lang="en-US"/>
          </a:p>
        </p:txBody>
      </p:sp>
      <p:pic>
        <p:nvPicPr>
          <p:cNvPr id="21" name="answer 3 icon" descr="preencoded.png"/>
          <p:cNvPicPr>
            <a:picLocks noChangeAspect="1"/>
          </p:cNvPicPr>
          <p:nvPr/>
        </p:nvPicPr>
        <p:blipFill>
          <a:blip r:embed="rId5"/>
          <a:stretch>
            <a:fillRect/>
          </a:stretch>
        </p:blipFill>
        <p:spPr>
          <a:xfrm>
            <a:off x="5532120" y="5120640"/>
            <a:ext cx="365760" cy="365760"/>
          </a:xfrm>
          <a:prstGeom prst="rect">
            <a:avLst/>
          </a:prstGeom>
        </p:spPr>
      </p:pic>
      <p:sp>
        <p:nvSpPr>
          <p:cNvPr id="22" name="Text 17"/>
          <p:cNvSpPr txBox="1"/>
          <p:nvPr/>
        </p:nvSpPr>
        <p:spPr>
          <a:xfrm>
            <a:off x="6309360" y="4800600"/>
            <a:ext cx="5120640" cy="365760"/>
          </a:xfrm>
          <a:prstGeom prst="rect">
            <a:avLst/>
          </a:prstGeom>
          <a:noFill/>
          <a:ln/>
        </p:spPr>
        <p:txBody>
          <a:bodyPr wrap="square" lIns="0" tIns="0" rIns="0" bIns="0" rtlCol="0" anchor="t"/>
          <a:lstStyle/>
          <a:p>
            <a:pPr marL="0" indent="0">
              <a:buNone/>
            </a:pPr>
            <a:r>
              <a:rPr lang="en-US" sz="1800" b="1" dirty="0">
                <a:solidFill>
                  <a:schemeClr val="tx2"/>
                </a:solidFill>
              </a:rPr>
              <a:t>Internal evidence only</a:t>
            </a:r>
            <a:endParaRPr lang="en-US" sz="1800" dirty="0"/>
          </a:p>
        </p:txBody>
      </p:sp>
      <p:sp>
        <p:nvSpPr>
          <p:cNvPr id="23" name="Text 18"/>
          <p:cNvSpPr txBox="1"/>
          <p:nvPr/>
        </p:nvSpPr>
        <p:spPr>
          <a:xfrm>
            <a:off x="6309360" y="5184648"/>
            <a:ext cx="5120640" cy="731520"/>
          </a:xfrm>
          <a:prstGeom prst="rect">
            <a:avLst/>
          </a:prstGeom>
          <a:noFill/>
          <a:ln/>
        </p:spPr>
        <p:txBody>
          <a:bodyPr wrap="square" lIns="0" tIns="0" rIns="0" bIns="0" rtlCol="0" anchor="t"/>
          <a:lstStyle/>
          <a:p>
            <a:pPr marL="0" indent="0">
              <a:buNone/>
            </a:pPr>
            <a:r>
              <a:rPr lang="en-US" sz="1400" dirty="0">
                <a:solidFill>
                  <a:schemeClr val="tx1"/>
                </a:solidFill>
              </a:rPr>
              <a:t>One centre, 303 patients, no external validation. Not a clinical tool.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 name="Text 0"/>
          <p:cNvSpPr>
            <a:spLocks noGrp="1"/>
          </p:cNvSpPr>
          <p:nvPr>
            <p:ph type="title" idx="100" hasCustomPrompt="1"/>
          </p:nvPr>
        </p:nvSpPr>
        <p:spPr>
          <a:xfrm>
            <a:off x="548640" y="365760"/>
            <a:ext cx="914400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Dataset: UCI Heart Disease, Cleveland</a:t>
            </a:r>
            <a:endParaRPr lang="en-US" sz="3200" dirty="0"/>
          </a:p>
        </p:txBody>
      </p:sp>
      <p:sp>
        <p:nvSpPr>
          <p:cNvPr id="5" name="Text 3"/>
          <p:cNvSpPr txBox="1"/>
          <p:nvPr/>
        </p:nvSpPr>
        <p:spPr>
          <a:xfrm>
            <a:off x="548640" y="1463040"/>
            <a:ext cx="1737360" cy="685800"/>
          </a:xfrm>
          <a:prstGeom prst="rect">
            <a:avLst/>
          </a:prstGeom>
          <a:noFill/>
          <a:ln/>
        </p:spPr>
        <p:txBody>
          <a:bodyPr wrap="square" lIns="0" tIns="0" rIns="0" bIns="0" rtlCol="0" anchor="t"/>
          <a:lstStyle/>
          <a:p>
            <a:pPr marL="0" indent="0">
              <a:buNone/>
            </a:pPr>
            <a:r>
              <a:rPr lang="en-US" sz="3600" b="1" dirty="0">
                <a:solidFill>
                  <a:schemeClr val="accent4"/>
                </a:solidFill>
                <a:latin typeface="Cambria" pitchFamily="34" charset="0"/>
                <a:ea typeface="Cambria" pitchFamily="34" charset="-122"/>
                <a:cs typeface="Cambria" pitchFamily="34" charset="-120"/>
              </a:rPr>
              <a:t>303</a:t>
            </a:r>
            <a:endParaRPr lang="en-US" sz="3600" dirty="0"/>
          </a:p>
        </p:txBody>
      </p:sp>
      <p:sp>
        <p:nvSpPr>
          <p:cNvPr id="6" name="Text 4"/>
          <p:cNvSpPr txBox="1"/>
          <p:nvPr/>
        </p:nvSpPr>
        <p:spPr>
          <a:xfrm>
            <a:off x="548640" y="2148840"/>
            <a:ext cx="1463040" cy="548640"/>
          </a:xfrm>
          <a:prstGeom prst="rect">
            <a:avLst/>
          </a:prstGeom>
          <a:noFill/>
          <a:ln/>
        </p:spPr>
        <p:txBody>
          <a:bodyPr wrap="square" lIns="0" tIns="0" rIns="0" bIns="0" rtlCol="0" anchor="t"/>
          <a:lstStyle/>
          <a:p>
            <a:pPr marL="0" indent="0">
              <a:buNone/>
            </a:pPr>
            <a:r>
              <a:rPr lang="en-US" sz="1200" dirty="0">
                <a:solidFill>
                  <a:schemeClr val="accent5"/>
                </a:solidFill>
              </a:rPr>
              <a:t>patients</a:t>
            </a:r>
            <a:endParaRPr lang="en-US" sz="1200" dirty="0"/>
          </a:p>
        </p:txBody>
      </p:sp>
      <p:sp>
        <p:nvSpPr>
          <p:cNvPr id="7" name="Text 5"/>
          <p:cNvSpPr txBox="1"/>
          <p:nvPr/>
        </p:nvSpPr>
        <p:spPr>
          <a:xfrm>
            <a:off x="1783080" y="1463040"/>
            <a:ext cx="1737360" cy="685800"/>
          </a:xfrm>
          <a:prstGeom prst="rect">
            <a:avLst/>
          </a:prstGeom>
          <a:noFill/>
          <a:ln/>
        </p:spPr>
        <p:txBody>
          <a:bodyPr wrap="square" lIns="0" tIns="0" rIns="0" bIns="0" rtlCol="0" anchor="t"/>
          <a:lstStyle/>
          <a:p>
            <a:pPr marL="0" indent="0">
              <a:buNone/>
            </a:pPr>
            <a:r>
              <a:rPr lang="en-US" sz="3600" b="1" dirty="0">
                <a:solidFill>
                  <a:schemeClr val="accent4"/>
                </a:solidFill>
                <a:latin typeface="Cambria" pitchFamily="34" charset="0"/>
                <a:ea typeface="Cambria" pitchFamily="34" charset="-122"/>
                <a:cs typeface="Cambria" pitchFamily="34" charset="-120"/>
              </a:rPr>
              <a:t>13</a:t>
            </a:r>
            <a:endParaRPr lang="en-US" sz="3600" dirty="0"/>
          </a:p>
        </p:txBody>
      </p:sp>
      <p:sp>
        <p:nvSpPr>
          <p:cNvPr id="8" name="Text 6"/>
          <p:cNvSpPr txBox="1"/>
          <p:nvPr/>
        </p:nvSpPr>
        <p:spPr>
          <a:xfrm>
            <a:off x="1783080" y="2148840"/>
            <a:ext cx="1463040" cy="548640"/>
          </a:xfrm>
          <a:prstGeom prst="rect">
            <a:avLst/>
          </a:prstGeom>
          <a:noFill/>
          <a:ln/>
        </p:spPr>
        <p:txBody>
          <a:bodyPr wrap="square" lIns="0" tIns="0" rIns="0" bIns="0" rtlCol="0" anchor="t"/>
          <a:lstStyle/>
          <a:p>
            <a:pPr marL="0" indent="0">
              <a:buNone/>
            </a:pPr>
            <a:r>
              <a:rPr lang="en-US" sz="1200" dirty="0">
                <a:solidFill>
                  <a:schemeClr val="accent5"/>
                </a:solidFill>
              </a:rPr>
              <a:t>predictors</a:t>
            </a:r>
            <a:endParaRPr lang="en-US" sz="1200" dirty="0"/>
          </a:p>
        </p:txBody>
      </p:sp>
      <p:sp>
        <p:nvSpPr>
          <p:cNvPr id="9" name="Text 7"/>
          <p:cNvSpPr txBox="1"/>
          <p:nvPr/>
        </p:nvSpPr>
        <p:spPr>
          <a:xfrm>
            <a:off x="2880360" y="1463040"/>
            <a:ext cx="1737360" cy="685800"/>
          </a:xfrm>
          <a:prstGeom prst="rect">
            <a:avLst/>
          </a:prstGeom>
          <a:noFill/>
          <a:ln/>
        </p:spPr>
        <p:txBody>
          <a:bodyPr wrap="square" lIns="0" tIns="0" rIns="0" bIns="0" rtlCol="0" anchor="t"/>
          <a:lstStyle/>
          <a:p>
            <a:pPr marL="0" indent="0">
              <a:buNone/>
            </a:pPr>
            <a:r>
              <a:rPr lang="en-US" sz="3600" b="1" dirty="0">
                <a:solidFill>
                  <a:schemeClr val="accent4"/>
                </a:solidFill>
                <a:latin typeface="Cambria" pitchFamily="34" charset="0"/>
                <a:ea typeface="Cambria" pitchFamily="34" charset="-122"/>
                <a:cs typeface="Cambria" pitchFamily="34" charset="-120"/>
              </a:rPr>
              <a:t>45.9%</a:t>
            </a:r>
            <a:endParaRPr lang="en-US" sz="3600" dirty="0"/>
          </a:p>
        </p:txBody>
      </p:sp>
      <p:sp>
        <p:nvSpPr>
          <p:cNvPr id="10" name="Text 8"/>
          <p:cNvSpPr txBox="1"/>
          <p:nvPr/>
        </p:nvSpPr>
        <p:spPr>
          <a:xfrm>
            <a:off x="2880360" y="2148840"/>
            <a:ext cx="1463040" cy="548640"/>
          </a:xfrm>
          <a:prstGeom prst="rect">
            <a:avLst/>
          </a:prstGeom>
          <a:noFill/>
          <a:ln/>
        </p:spPr>
        <p:txBody>
          <a:bodyPr wrap="square" lIns="0" tIns="0" rIns="0" bIns="0" rtlCol="0" anchor="t"/>
          <a:lstStyle/>
          <a:p>
            <a:pPr marL="0" indent="0">
              <a:buNone/>
            </a:pPr>
            <a:r>
              <a:rPr lang="en-US" sz="1200" dirty="0">
                <a:solidFill>
                  <a:schemeClr val="accent5"/>
                </a:solidFill>
              </a:rPr>
              <a:t>have disease (139)</a:t>
            </a:r>
            <a:endParaRPr lang="en-US" sz="1200" dirty="0"/>
          </a:p>
        </p:txBody>
      </p:sp>
      <p:sp>
        <p:nvSpPr>
          <p:cNvPr id="11" name="Text 9"/>
          <p:cNvSpPr txBox="1"/>
          <p:nvPr/>
        </p:nvSpPr>
        <p:spPr>
          <a:xfrm>
            <a:off x="4754880" y="1463040"/>
            <a:ext cx="1737360" cy="685800"/>
          </a:xfrm>
          <a:prstGeom prst="rect">
            <a:avLst/>
          </a:prstGeom>
          <a:noFill/>
          <a:ln/>
        </p:spPr>
        <p:txBody>
          <a:bodyPr wrap="square" lIns="0" tIns="0" rIns="0" bIns="0" rtlCol="0" anchor="t"/>
          <a:lstStyle/>
          <a:p>
            <a:pPr marL="0" indent="0">
              <a:buNone/>
            </a:pPr>
            <a:r>
              <a:rPr lang="en-US" sz="3600" b="1" dirty="0">
                <a:solidFill>
                  <a:schemeClr val="accent4"/>
                </a:solidFill>
                <a:latin typeface="Cambria" pitchFamily="34" charset="0"/>
                <a:ea typeface="Cambria" pitchFamily="34" charset="-122"/>
                <a:cs typeface="Cambria" pitchFamily="34" charset="-120"/>
              </a:rPr>
              <a:t>6</a:t>
            </a:r>
            <a:endParaRPr lang="en-US" sz="3600" dirty="0"/>
          </a:p>
        </p:txBody>
      </p:sp>
      <p:sp>
        <p:nvSpPr>
          <p:cNvPr id="12" name="Text 10"/>
          <p:cNvSpPr txBox="1"/>
          <p:nvPr/>
        </p:nvSpPr>
        <p:spPr>
          <a:xfrm>
            <a:off x="4754880" y="2148840"/>
            <a:ext cx="1463040" cy="548640"/>
          </a:xfrm>
          <a:prstGeom prst="rect">
            <a:avLst/>
          </a:prstGeom>
          <a:noFill/>
          <a:ln/>
        </p:spPr>
        <p:txBody>
          <a:bodyPr wrap="square" lIns="0" tIns="0" rIns="0" bIns="0" rtlCol="0" anchor="t"/>
          <a:lstStyle/>
          <a:p>
            <a:pPr marL="0" indent="0">
              <a:buNone/>
            </a:pPr>
            <a:r>
              <a:rPr lang="en-US" sz="1200" dirty="0">
                <a:solidFill>
                  <a:schemeClr val="accent5"/>
                </a:solidFill>
              </a:rPr>
              <a:t>rows with a missing value</a:t>
            </a:r>
            <a:endParaRPr lang="en-US" sz="1200" dirty="0"/>
          </a:p>
        </p:txBody>
      </p:sp>
      <p:sp>
        <p:nvSpPr>
          <p:cNvPr id="13" name="Text 11"/>
          <p:cNvSpPr txBox="1"/>
          <p:nvPr/>
        </p:nvSpPr>
        <p:spPr>
          <a:xfrm>
            <a:off x="548640" y="2971800"/>
            <a:ext cx="5577840" cy="3200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Loaded from the original UCI archive and checked: 303 rows × 14 columns, no duplicates, no impossible values</a:t>
            </a:r>
            <a:endParaRPr lang="en-US" sz="1500" dirty="0"/>
          </a:p>
          <a:p>
            <a:pPr marL="342900" indent="-342900">
              <a:spcAft>
                <a:spcPts val="800"/>
              </a:spcAft>
              <a:buSzPct val="100000"/>
              <a:buChar char="•"/>
            </a:pPr>
            <a:r>
              <a:rPr lang="en-US" sz="1500" dirty="0">
                <a:solidFill>
                  <a:schemeClr val="tx1"/>
                </a:solidFill>
              </a:rPr>
              <a:t>Target: disease = 1 if the angiographic diagnosis num is 1–4, else 0</a:t>
            </a:r>
            <a:endParaRPr lang="en-US" sz="1500" dirty="0"/>
          </a:p>
          <a:p>
            <a:pPr marL="342900" indent="-342900">
              <a:spcAft>
                <a:spcPts val="800"/>
              </a:spcAft>
              <a:buSzPct val="100000"/>
              <a:buChar char="•"/>
            </a:pPr>
            <a:r>
              <a:rPr lang="en-US" sz="1500" dirty="0">
                <a:solidFill>
                  <a:schemeClr val="tx1"/>
                </a:solidFill>
              </a:rPr>
              <a:t>Close to balanced: 164 without, 139 with disease</a:t>
            </a:r>
            <a:endParaRPr lang="en-US" sz="1500" dirty="0"/>
          </a:p>
          <a:p>
            <a:pPr marL="342900" indent="-342900">
              <a:spcAft>
                <a:spcPts val="800"/>
              </a:spcAft>
              <a:buSzPct val="100000"/>
              <a:buChar char="•"/>
            </a:pPr>
            <a:r>
              <a:rPr lang="en-US" sz="1500" dirty="0">
                <a:solidFill>
                  <a:schemeClr val="tx1"/>
                </a:solidFill>
              </a:rPr>
              <a:t>Missing only in ca (4) and thal (2)</a:t>
            </a:r>
            <a:endParaRPr lang="en-US" sz="1500" dirty="0"/>
          </a:p>
          <a:p>
            <a:pPr marL="342900" indent="-342900">
              <a:spcAft>
                <a:spcPts val="800"/>
              </a:spcAft>
              <a:buSzPct val="100000"/>
              <a:buChar char="•"/>
            </a:pPr>
            <a:r>
              <a:rPr lang="en-US" sz="1500" dirty="0">
                <a:solidFill>
                  <a:schemeClr val="tx1"/>
                </a:solidFill>
              </a:rPr>
              <a:t>Six predictors come from exercise tests, fluoroscopy and imaging: a diagnostic work-up, not first-contact screening</a:t>
            </a:r>
            <a:endParaRPr lang="en-US" sz="1500" dirty="0"/>
          </a:p>
        </p:txBody>
      </p:sp>
      <p:graphicFrame>
        <p:nvGraphicFramePr>
          <p:cNvPr id="14" name="Chart 0"/>
          <p:cNvGraphicFramePr/>
          <p:nvPr/>
        </p:nvGraphicFramePr>
        <p:xfrm>
          <a:off x="6492240" y="1371600"/>
          <a:ext cx="512064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4" name="Text 0"/>
          <p:cNvSpPr>
            <a:spLocks noGrp="1"/>
          </p:cNvSpPr>
          <p:nvPr>
            <p:ph type="title" idx="100" hasCustomPrompt="1"/>
          </p:nvPr>
        </p:nvSpPr>
        <p:spPr>
          <a:xfrm>
            <a:off x="548640" y="365760"/>
            <a:ext cx="914400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What the exploratory analysis showed</a:t>
            </a:r>
            <a:endParaRPr lang="en-US" sz="3200" dirty="0"/>
          </a:p>
        </p:txBody>
      </p:sp>
      <p:pic>
        <p:nvPicPr>
          <p:cNvPr id="5" name="correlation heatmap" descr="Spearman correlation heatmap of the 13 predictors and the target"/>
          <p:cNvPicPr>
            <a:picLocks noChangeAspect="1"/>
          </p:cNvPicPr>
          <p:nvPr/>
        </p:nvPicPr>
        <p:blipFill>
          <a:blip r:embed="rId3"/>
          <a:stretch>
            <a:fillRect/>
          </a:stretch>
        </p:blipFill>
        <p:spPr>
          <a:xfrm>
            <a:off x="548640" y="1468755"/>
            <a:ext cx="5669280" cy="4606290"/>
          </a:xfrm>
          <a:prstGeom prst="rect">
            <a:avLst/>
          </a:prstGeom>
        </p:spPr>
      </p:pic>
      <p:sp>
        <p:nvSpPr>
          <p:cNvPr id="6" name="eda card 1"/>
          <p:cNvSpPr/>
          <p:nvPr/>
        </p:nvSpPr>
        <p:spPr>
          <a:xfrm>
            <a:off x="6583680" y="1463040"/>
            <a:ext cx="5029200" cy="1371600"/>
          </a:xfrm>
          <a:prstGeom prst="roundRect">
            <a:avLst>
              <a:gd name="adj" fmla="val 8000"/>
            </a:avLst>
          </a:prstGeom>
          <a:solidFill>
            <a:schemeClr val="bg2"/>
          </a:solidFill>
          <a:ln/>
        </p:spPr>
        <p:txBody>
          <a:bodyPr/>
          <a:lstStyle/>
          <a:p>
            <a:endParaRPr lang="en-US"/>
          </a:p>
        </p:txBody>
      </p:sp>
      <p:sp>
        <p:nvSpPr>
          <p:cNvPr id="7" name="Text 4"/>
          <p:cNvSpPr txBox="1"/>
          <p:nvPr/>
        </p:nvSpPr>
        <p:spPr>
          <a:xfrm>
            <a:off x="6812280" y="1627632"/>
            <a:ext cx="4572000" cy="365760"/>
          </a:xfrm>
          <a:prstGeom prst="rect">
            <a:avLst/>
          </a:prstGeom>
          <a:noFill/>
          <a:ln/>
        </p:spPr>
        <p:txBody>
          <a:bodyPr wrap="square" lIns="0" tIns="0" rIns="0" bIns="0" rtlCol="0" anchor="t"/>
          <a:lstStyle/>
          <a:p>
            <a:pPr marL="0" indent="0">
              <a:buNone/>
            </a:pPr>
            <a:r>
              <a:rPr lang="en-US" sz="1700" b="1" dirty="0">
                <a:solidFill>
                  <a:schemeClr val="tx2"/>
                </a:solidFill>
              </a:rPr>
              <a:t>Only one strongly related pair</a:t>
            </a:r>
            <a:endParaRPr lang="en-US" sz="1700" dirty="0"/>
          </a:p>
        </p:txBody>
      </p:sp>
      <p:sp>
        <p:nvSpPr>
          <p:cNvPr id="8" name="Text 5"/>
          <p:cNvSpPr txBox="1"/>
          <p:nvPr/>
        </p:nvSpPr>
        <p:spPr>
          <a:xfrm>
            <a:off x="6812280" y="2011680"/>
            <a:ext cx="4572000" cy="731520"/>
          </a:xfrm>
          <a:prstGeom prst="rect">
            <a:avLst/>
          </a:prstGeom>
          <a:noFill/>
          <a:ln/>
        </p:spPr>
        <p:txBody>
          <a:bodyPr wrap="square" lIns="0" tIns="0" rIns="0" bIns="0" rtlCol="0" anchor="t"/>
          <a:lstStyle/>
          <a:p>
            <a:pPr marL="0" indent="0">
              <a:buNone/>
            </a:pPr>
            <a:r>
              <a:rPr lang="en-US" sz="1400" dirty="0">
                <a:solidFill>
                  <a:schemeClr val="tx1"/>
                </a:solidFill>
              </a:rPr>
              <a:t>oldpeak and slope (Spearman 0.595); no feature duplicates another</a:t>
            </a:r>
            <a:endParaRPr lang="en-US" sz="1400" dirty="0"/>
          </a:p>
        </p:txBody>
      </p:sp>
      <p:sp>
        <p:nvSpPr>
          <p:cNvPr id="9" name="eda card 2"/>
          <p:cNvSpPr/>
          <p:nvPr/>
        </p:nvSpPr>
        <p:spPr>
          <a:xfrm>
            <a:off x="6583680" y="3063240"/>
            <a:ext cx="5029200" cy="1371600"/>
          </a:xfrm>
          <a:prstGeom prst="roundRect">
            <a:avLst>
              <a:gd name="adj" fmla="val 8000"/>
            </a:avLst>
          </a:prstGeom>
          <a:solidFill>
            <a:schemeClr val="bg2"/>
          </a:solidFill>
          <a:ln/>
        </p:spPr>
        <p:txBody>
          <a:bodyPr/>
          <a:lstStyle/>
          <a:p>
            <a:endParaRPr lang="en-US"/>
          </a:p>
        </p:txBody>
      </p:sp>
      <p:sp>
        <p:nvSpPr>
          <p:cNvPr id="10" name="Text 7"/>
          <p:cNvSpPr txBox="1"/>
          <p:nvPr/>
        </p:nvSpPr>
        <p:spPr>
          <a:xfrm>
            <a:off x="6812280" y="3227832"/>
            <a:ext cx="4572000" cy="365760"/>
          </a:xfrm>
          <a:prstGeom prst="rect">
            <a:avLst/>
          </a:prstGeom>
          <a:noFill/>
          <a:ln/>
        </p:spPr>
        <p:txBody>
          <a:bodyPr wrap="square" lIns="0" tIns="0" rIns="0" bIns="0" rtlCol="0" anchor="t"/>
          <a:lstStyle/>
          <a:p>
            <a:pPr marL="0" indent="0">
              <a:buNone/>
            </a:pPr>
            <a:r>
              <a:rPr lang="en-US" sz="1700" b="1" dirty="0">
                <a:solidFill>
                  <a:schemeClr val="tx2"/>
                </a:solidFill>
              </a:rPr>
              <a:t>Sparse categories</a:t>
            </a:r>
            <a:endParaRPr lang="en-US" sz="1700" dirty="0"/>
          </a:p>
        </p:txBody>
      </p:sp>
      <p:sp>
        <p:nvSpPr>
          <p:cNvPr id="11" name="Text 8"/>
          <p:cNvSpPr txBox="1"/>
          <p:nvPr/>
        </p:nvSpPr>
        <p:spPr>
          <a:xfrm>
            <a:off x="6812280" y="3611880"/>
            <a:ext cx="4572000" cy="731520"/>
          </a:xfrm>
          <a:prstGeom prst="rect">
            <a:avLst/>
          </a:prstGeom>
          <a:noFill/>
          <a:ln/>
        </p:spPr>
        <p:txBody>
          <a:bodyPr wrap="square" lIns="0" tIns="0" rIns="0" bIns="0" rtlCol="0" anchor="t"/>
          <a:lstStyle/>
          <a:p>
            <a:pPr marL="0" indent="0">
              <a:buNone/>
            </a:pPr>
            <a:r>
              <a:rPr lang="en-US" sz="1400" dirty="0">
                <a:solidFill>
                  <a:schemeClr val="tx1"/>
                </a:solidFill>
              </a:rPr>
              <a:t>restecg = 1 has 4 patients; thal = 6 has 18; ca = 3 has 20</a:t>
            </a:r>
            <a:endParaRPr lang="en-US" sz="1400" dirty="0"/>
          </a:p>
        </p:txBody>
      </p:sp>
      <p:sp>
        <p:nvSpPr>
          <p:cNvPr id="12" name="eda card 3"/>
          <p:cNvSpPr/>
          <p:nvPr/>
        </p:nvSpPr>
        <p:spPr>
          <a:xfrm>
            <a:off x="6583680" y="4663440"/>
            <a:ext cx="5029200" cy="1371600"/>
          </a:xfrm>
          <a:prstGeom prst="roundRect">
            <a:avLst>
              <a:gd name="adj" fmla="val 8000"/>
            </a:avLst>
          </a:prstGeom>
          <a:solidFill>
            <a:schemeClr val="bg2"/>
          </a:solidFill>
          <a:ln/>
        </p:spPr>
        <p:txBody>
          <a:bodyPr/>
          <a:lstStyle/>
          <a:p>
            <a:endParaRPr lang="en-US"/>
          </a:p>
        </p:txBody>
      </p:sp>
      <p:sp>
        <p:nvSpPr>
          <p:cNvPr id="13" name="Text 10"/>
          <p:cNvSpPr txBox="1"/>
          <p:nvPr/>
        </p:nvSpPr>
        <p:spPr>
          <a:xfrm>
            <a:off x="6812280" y="4828032"/>
            <a:ext cx="4572000" cy="365760"/>
          </a:xfrm>
          <a:prstGeom prst="rect">
            <a:avLst/>
          </a:prstGeom>
          <a:noFill/>
          <a:ln/>
        </p:spPr>
        <p:txBody>
          <a:bodyPr wrap="square" lIns="0" tIns="0" rIns="0" bIns="0" rtlCol="0" anchor="t"/>
          <a:lstStyle/>
          <a:p>
            <a:pPr marL="0" indent="0">
              <a:buNone/>
            </a:pPr>
            <a:r>
              <a:rPr lang="en-US" sz="1700" b="1" dirty="0">
                <a:solidFill>
                  <a:schemeClr val="tx2"/>
                </a:solidFill>
              </a:rPr>
              <a:t>Referral bias is visible</a:t>
            </a:r>
            <a:endParaRPr lang="en-US" sz="1700" dirty="0"/>
          </a:p>
        </p:txBody>
      </p:sp>
      <p:sp>
        <p:nvSpPr>
          <p:cNvPr id="14" name="Text 11"/>
          <p:cNvSpPr txBox="1"/>
          <p:nvPr/>
        </p:nvSpPr>
        <p:spPr>
          <a:xfrm>
            <a:off x="6812280" y="5212080"/>
            <a:ext cx="4572000" cy="731520"/>
          </a:xfrm>
          <a:prstGeom prst="rect">
            <a:avLst/>
          </a:prstGeom>
          <a:noFill/>
          <a:ln/>
        </p:spPr>
        <p:txBody>
          <a:bodyPr wrap="square" lIns="0" tIns="0" rIns="0" bIns="0" rtlCol="0" anchor="t"/>
          <a:lstStyle/>
          <a:p>
            <a:pPr marL="0" indent="0">
              <a:buNone/>
            </a:pPr>
            <a:r>
              <a:rPr lang="en-US" sz="1400" dirty="0">
                <a:solidFill>
                  <a:schemeClr val="tx1"/>
                </a:solidFill>
              </a:rPr>
              <a:t>Asymptomatic chest pain has the highest disease rate (0.73): it reflects who was sent for angiography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4" name="Text 0"/>
          <p:cNvSpPr>
            <a:spLocks noGrp="1"/>
          </p:cNvSpPr>
          <p:nvPr>
            <p:ph type="title" idx="100" hasCustomPrompt="1"/>
          </p:nvPr>
        </p:nvSpPr>
        <p:spPr>
          <a:xfrm>
            <a:off x="548640" y="365760"/>
            <a:ext cx="914400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Feature engineering without leakage</a:t>
            </a:r>
            <a:endParaRPr lang="en-US" sz="3200" dirty="0"/>
          </a:p>
        </p:txBody>
      </p:sp>
      <p:sp>
        <p:nvSpPr>
          <p:cNvPr id="5" name="step 1"/>
          <p:cNvSpPr/>
          <p:nvPr/>
        </p:nvSpPr>
        <p:spPr>
          <a:xfrm>
            <a:off x="548640" y="1463040"/>
            <a:ext cx="2057400" cy="1371600"/>
          </a:xfrm>
          <a:prstGeom prst="roundRect">
            <a:avLst>
              <a:gd name="adj" fmla="val 8000"/>
            </a:avLst>
          </a:prstGeom>
          <a:solidFill>
            <a:schemeClr val="bg2"/>
          </a:solidFill>
          <a:ln/>
        </p:spPr>
        <p:txBody>
          <a:bodyPr/>
          <a:lstStyle/>
          <a:p>
            <a:endParaRPr lang="en-US"/>
          </a:p>
        </p:txBody>
      </p:sp>
      <p:sp>
        <p:nvSpPr>
          <p:cNvPr id="6" name="Text 4"/>
          <p:cNvSpPr txBox="1"/>
          <p:nvPr/>
        </p:nvSpPr>
        <p:spPr>
          <a:xfrm>
            <a:off x="731520" y="1572768"/>
            <a:ext cx="457200" cy="365760"/>
          </a:xfrm>
          <a:prstGeom prst="rect">
            <a:avLst/>
          </a:prstGeom>
          <a:noFill/>
          <a:ln/>
        </p:spPr>
        <p:txBody>
          <a:bodyPr wrap="square" lIns="0" tIns="0" rIns="0" bIns="0" rtlCol="0" anchor="t"/>
          <a:lstStyle/>
          <a:p>
            <a:pPr marL="0" indent="0">
              <a:buNone/>
            </a:pPr>
            <a:r>
              <a:rPr lang="en-US" sz="1800" b="1" dirty="0">
                <a:solidFill>
                  <a:schemeClr val="accent4"/>
                </a:solidFill>
              </a:rPr>
              <a:t>1</a:t>
            </a:r>
            <a:endParaRPr lang="en-US" sz="1800" dirty="0"/>
          </a:p>
        </p:txBody>
      </p:sp>
      <p:sp>
        <p:nvSpPr>
          <p:cNvPr id="7" name="Text 5"/>
          <p:cNvSpPr txBox="1"/>
          <p:nvPr/>
        </p:nvSpPr>
        <p:spPr>
          <a:xfrm>
            <a:off x="731520" y="1938528"/>
            <a:ext cx="1737360" cy="822960"/>
          </a:xfrm>
          <a:prstGeom prst="rect">
            <a:avLst/>
          </a:prstGeom>
          <a:noFill/>
          <a:ln/>
        </p:spPr>
        <p:txBody>
          <a:bodyPr wrap="square" lIns="0" tIns="0" rIns="0" bIns="0" rtlCol="0" anchor="t"/>
          <a:lstStyle/>
          <a:p>
            <a:pPr marL="0" indent="0">
              <a:buNone/>
            </a:pPr>
            <a:r>
              <a:rPr lang="en-US" sz="1400" b="1" dirty="0">
                <a:solidFill>
                  <a:schemeClr val="tx2"/>
                </a:solidFill>
              </a:rPr>
              <a:t>Raw 303 rows</a:t>
            </a:r>
            <a:endParaRPr lang="en-US" sz="1400" dirty="0"/>
          </a:p>
        </p:txBody>
      </p:sp>
      <p:sp>
        <p:nvSpPr>
          <p:cNvPr id="8" name="arrow 1"/>
          <p:cNvSpPr/>
          <p:nvPr/>
        </p:nvSpPr>
        <p:spPr>
          <a:xfrm>
            <a:off x="2633472" y="2057400"/>
            <a:ext cx="146304" cy="182880"/>
          </a:xfrm>
          <a:prstGeom prst="rightArrow">
            <a:avLst/>
          </a:prstGeom>
          <a:solidFill>
            <a:schemeClr val="accent6"/>
          </a:solidFill>
          <a:ln/>
        </p:spPr>
        <p:txBody>
          <a:bodyPr/>
          <a:lstStyle/>
          <a:p>
            <a:endParaRPr lang="en-US"/>
          </a:p>
        </p:txBody>
      </p:sp>
      <p:sp>
        <p:nvSpPr>
          <p:cNvPr id="9" name="step 2"/>
          <p:cNvSpPr/>
          <p:nvPr/>
        </p:nvSpPr>
        <p:spPr>
          <a:xfrm>
            <a:off x="2798064" y="1463040"/>
            <a:ext cx="2057400" cy="1371600"/>
          </a:xfrm>
          <a:prstGeom prst="roundRect">
            <a:avLst>
              <a:gd name="adj" fmla="val 8000"/>
            </a:avLst>
          </a:prstGeom>
          <a:solidFill>
            <a:schemeClr val="bg2"/>
          </a:solidFill>
          <a:ln/>
        </p:spPr>
        <p:txBody>
          <a:bodyPr/>
          <a:lstStyle/>
          <a:p>
            <a:endParaRPr lang="en-US"/>
          </a:p>
        </p:txBody>
      </p:sp>
      <p:sp>
        <p:nvSpPr>
          <p:cNvPr id="10" name="Text 8"/>
          <p:cNvSpPr txBox="1"/>
          <p:nvPr/>
        </p:nvSpPr>
        <p:spPr>
          <a:xfrm>
            <a:off x="2980944" y="1572768"/>
            <a:ext cx="457200" cy="365760"/>
          </a:xfrm>
          <a:prstGeom prst="rect">
            <a:avLst/>
          </a:prstGeom>
          <a:noFill/>
          <a:ln/>
        </p:spPr>
        <p:txBody>
          <a:bodyPr wrap="square" lIns="0" tIns="0" rIns="0" bIns="0" rtlCol="0" anchor="t"/>
          <a:lstStyle/>
          <a:p>
            <a:pPr marL="0" indent="0">
              <a:buNone/>
            </a:pPr>
            <a:r>
              <a:rPr lang="en-US" sz="1800" b="1" dirty="0">
                <a:solidFill>
                  <a:schemeClr val="accent4"/>
                </a:solidFill>
              </a:rPr>
              <a:t>2</a:t>
            </a:r>
            <a:endParaRPr lang="en-US" sz="1800" dirty="0"/>
          </a:p>
        </p:txBody>
      </p:sp>
      <p:sp>
        <p:nvSpPr>
          <p:cNvPr id="11" name="Text 9"/>
          <p:cNvSpPr txBox="1"/>
          <p:nvPr/>
        </p:nvSpPr>
        <p:spPr>
          <a:xfrm>
            <a:off x="2980944" y="1938528"/>
            <a:ext cx="1737360" cy="822960"/>
          </a:xfrm>
          <a:prstGeom prst="rect">
            <a:avLst/>
          </a:prstGeom>
          <a:noFill/>
          <a:ln/>
        </p:spPr>
        <p:txBody>
          <a:bodyPr wrap="square" lIns="0" tIns="0" rIns="0" bIns="0" rtlCol="0" anchor="t"/>
          <a:lstStyle/>
          <a:p>
            <a:pPr marL="0" indent="0">
              <a:buNone/>
            </a:pPr>
            <a:r>
              <a:rPr lang="en-US" sz="1400" b="1" dirty="0">
                <a:solidFill>
                  <a:schemeClr val="tx2"/>
                </a:solidFill>
              </a:rPr>
              <a:t>Guard: the target can never be an input</a:t>
            </a:r>
            <a:endParaRPr lang="en-US" sz="1400" dirty="0"/>
          </a:p>
        </p:txBody>
      </p:sp>
      <p:sp>
        <p:nvSpPr>
          <p:cNvPr id="12" name="arrow 2"/>
          <p:cNvSpPr/>
          <p:nvPr/>
        </p:nvSpPr>
        <p:spPr>
          <a:xfrm>
            <a:off x="4882896" y="2057400"/>
            <a:ext cx="146304" cy="182880"/>
          </a:xfrm>
          <a:prstGeom prst="rightArrow">
            <a:avLst/>
          </a:prstGeom>
          <a:solidFill>
            <a:schemeClr val="accent6"/>
          </a:solidFill>
          <a:ln/>
        </p:spPr>
        <p:txBody>
          <a:bodyPr/>
          <a:lstStyle/>
          <a:p>
            <a:endParaRPr lang="en-US"/>
          </a:p>
        </p:txBody>
      </p:sp>
      <p:sp>
        <p:nvSpPr>
          <p:cNvPr id="13" name="step 3"/>
          <p:cNvSpPr/>
          <p:nvPr/>
        </p:nvSpPr>
        <p:spPr>
          <a:xfrm>
            <a:off x="5047488" y="1463040"/>
            <a:ext cx="2057400" cy="1371600"/>
          </a:xfrm>
          <a:prstGeom prst="roundRect">
            <a:avLst>
              <a:gd name="adj" fmla="val 8000"/>
            </a:avLst>
          </a:prstGeom>
          <a:solidFill>
            <a:schemeClr val="accent4"/>
          </a:solidFill>
          <a:ln/>
        </p:spPr>
        <p:txBody>
          <a:bodyPr/>
          <a:lstStyle/>
          <a:p>
            <a:endParaRPr lang="en-US"/>
          </a:p>
        </p:txBody>
      </p:sp>
      <p:sp>
        <p:nvSpPr>
          <p:cNvPr id="14" name="Text 12"/>
          <p:cNvSpPr txBox="1"/>
          <p:nvPr/>
        </p:nvSpPr>
        <p:spPr>
          <a:xfrm>
            <a:off x="5230368" y="1572768"/>
            <a:ext cx="457200" cy="365760"/>
          </a:xfrm>
          <a:prstGeom prst="rect">
            <a:avLst/>
          </a:prstGeom>
          <a:noFill/>
          <a:ln/>
        </p:spPr>
        <p:txBody>
          <a:bodyPr wrap="square" lIns="0" tIns="0" rIns="0" bIns="0" rtlCol="0" anchor="t"/>
          <a:lstStyle/>
          <a:p>
            <a:pPr marL="0" indent="0">
              <a:buNone/>
            </a:pPr>
            <a:r>
              <a:rPr lang="en-US" sz="1800" b="1" dirty="0">
                <a:solidFill>
                  <a:schemeClr val="bg1"/>
                </a:solidFill>
              </a:rPr>
              <a:t>3</a:t>
            </a:r>
            <a:endParaRPr lang="en-US" sz="1800" dirty="0"/>
          </a:p>
        </p:txBody>
      </p:sp>
      <p:sp>
        <p:nvSpPr>
          <p:cNvPr id="15" name="Text 13"/>
          <p:cNvSpPr txBox="1"/>
          <p:nvPr/>
        </p:nvSpPr>
        <p:spPr>
          <a:xfrm>
            <a:off x="5230368" y="1938528"/>
            <a:ext cx="1737360" cy="822960"/>
          </a:xfrm>
          <a:prstGeom prst="rect">
            <a:avLst/>
          </a:prstGeom>
          <a:noFill/>
          <a:ln/>
        </p:spPr>
        <p:txBody>
          <a:bodyPr wrap="square" lIns="0" tIns="0" rIns="0" bIns="0" rtlCol="0" anchor="t"/>
          <a:lstStyle/>
          <a:p>
            <a:pPr marL="0" indent="0">
              <a:buNone/>
            </a:pPr>
            <a:r>
              <a:rPr lang="en-US" sz="1400" b="1" dirty="0">
                <a:solidFill>
                  <a:schemeClr val="bg1"/>
                </a:solidFill>
              </a:rPr>
              <a:t>Fit preprocessing on the training fold only</a:t>
            </a:r>
            <a:endParaRPr lang="en-US" sz="1400" dirty="0"/>
          </a:p>
        </p:txBody>
      </p:sp>
      <p:sp>
        <p:nvSpPr>
          <p:cNvPr id="16" name="arrow 3"/>
          <p:cNvSpPr/>
          <p:nvPr/>
        </p:nvSpPr>
        <p:spPr>
          <a:xfrm>
            <a:off x="7132320" y="2057400"/>
            <a:ext cx="146304" cy="182880"/>
          </a:xfrm>
          <a:prstGeom prst="rightArrow">
            <a:avLst/>
          </a:prstGeom>
          <a:solidFill>
            <a:schemeClr val="accent6"/>
          </a:solidFill>
          <a:ln/>
        </p:spPr>
        <p:txBody>
          <a:bodyPr/>
          <a:lstStyle/>
          <a:p>
            <a:endParaRPr lang="en-US"/>
          </a:p>
        </p:txBody>
      </p:sp>
      <p:sp>
        <p:nvSpPr>
          <p:cNvPr id="17" name="step 4"/>
          <p:cNvSpPr/>
          <p:nvPr/>
        </p:nvSpPr>
        <p:spPr>
          <a:xfrm>
            <a:off x="7296912" y="1463040"/>
            <a:ext cx="2057400" cy="1371600"/>
          </a:xfrm>
          <a:prstGeom prst="roundRect">
            <a:avLst>
              <a:gd name="adj" fmla="val 8000"/>
            </a:avLst>
          </a:prstGeom>
          <a:solidFill>
            <a:schemeClr val="bg2"/>
          </a:solidFill>
          <a:ln/>
        </p:spPr>
        <p:txBody>
          <a:bodyPr/>
          <a:lstStyle/>
          <a:p>
            <a:endParaRPr lang="en-US"/>
          </a:p>
        </p:txBody>
      </p:sp>
      <p:sp>
        <p:nvSpPr>
          <p:cNvPr id="18" name="Text 16"/>
          <p:cNvSpPr txBox="1"/>
          <p:nvPr/>
        </p:nvSpPr>
        <p:spPr>
          <a:xfrm>
            <a:off x="7479792" y="1572768"/>
            <a:ext cx="457200" cy="365760"/>
          </a:xfrm>
          <a:prstGeom prst="rect">
            <a:avLst/>
          </a:prstGeom>
          <a:noFill/>
          <a:ln/>
        </p:spPr>
        <p:txBody>
          <a:bodyPr wrap="square" lIns="0" tIns="0" rIns="0" bIns="0" rtlCol="0" anchor="t"/>
          <a:lstStyle/>
          <a:p>
            <a:pPr marL="0" indent="0">
              <a:buNone/>
            </a:pPr>
            <a:r>
              <a:rPr lang="en-US" sz="1800" b="1" dirty="0">
                <a:solidFill>
                  <a:schemeClr val="accent4"/>
                </a:solidFill>
              </a:rPr>
              <a:t>4</a:t>
            </a:r>
            <a:endParaRPr lang="en-US" sz="1800" dirty="0"/>
          </a:p>
        </p:txBody>
      </p:sp>
      <p:sp>
        <p:nvSpPr>
          <p:cNvPr id="19" name="Text 17"/>
          <p:cNvSpPr txBox="1"/>
          <p:nvPr/>
        </p:nvSpPr>
        <p:spPr>
          <a:xfrm>
            <a:off x="7479792" y="1938528"/>
            <a:ext cx="1737360" cy="822960"/>
          </a:xfrm>
          <a:prstGeom prst="rect">
            <a:avLst/>
          </a:prstGeom>
          <a:noFill/>
          <a:ln/>
        </p:spPr>
        <p:txBody>
          <a:bodyPr wrap="square" lIns="0" tIns="0" rIns="0" bIns="0" rtlCol="0" anchor="t"/>
          <a:lstStyle/>
          <a:p>
            <a:pPr marL="0" indent="0">
              <a:buNone/>
            </a:pPr>
            <a:r>
              <a:rPr lang="en-US" sz="1400" b="1" dirty="0">
                <a:solidFill>
                  <a:schemeClr val="tx2"/>
                </a:solidFill>
              </a:rPr>
              <a:t>Train the model</a:t>
            </a:r>
            <a:endParaRPr lang="en-US" sz="1400" dirty="0"/>
          </a:p>
        </p:txBody>
      </p:sp>
      <p:sp>
        <p:nvSpPr>
          <p:cNvPr id="20" name="arrow 4"/>
          <p:cNvSpPr/>
          <p:nvPr/>
        </p:nvSpPr>
        <p:spPr>
          <a:xfrm>
            <a:off x="9381744" y="2057400"/>
            <a:ext cx="146304" cy="182880"/>
          </a:xfrm>
          <a:prstGeom prst="rightArrow">
            <a:avLst/>
          </a:prstGeom>
          <a:solidFill>
            <a:schemeClr val="accent6"/>
          </a:solidFill>
          <a:ln/>
        </p:spPr>
        <p:txBody>
          <a:bodyPr/>
          <a:lstStyle/>
          <a:p>
            <a:endParaRPr lang="en-US"/>
          </a:p>
        </p:txBody>
      </p:sp>
      <p:sp>
        <p:nvSpPr>
          <p:cNvPr id="21" name="step 5"/>
          <p:cNvSpPr/>
          <p:nvPr/>
        </p:nvSpPr>
        <p:spPr>
          <a:xfrm>
            <a:off x="9546336" y="1463040"/>
            <a:ext cx="2057400" cy="1371600"/>
          </a:xfrm>
          <a:prstGeom prst="roundRect">
            <a:avLst>
              <a:gd name="adj" fmla="val 8000"/>
            </a:avLst>
          </a:prstGeom>
          <a:solidFill>
            <a:schemeClr val="bg2"/>
          </a:solidFill>
          <a:ln/>
        </p:spPr>
        <p:txBody>
          <a:bodyPr/>
          <a:lstStyle/>
          <a:p>
            <a:endParaRPr lang="en-US"/>
          </a:p>
        </p:txBody>
      </p:sp>
      <p:sp>
        <p:nvSpPr>
          <p:cNvPr id="22" name="Text 20"/>
          <p:cNvSpPr txBox="1"/>
          <p:nvPr/>
        </p:nvSpPr>
        <p:spPr>
          <a:xfrm>
            <a:off x="9729216" y="1572768"/>
            <a:ext cx="457200" cy="365760"/>
          </a:xfrm>
          <a:prstGeom prst="rect">
            <a:avLst/>
          </a:prstGeom>
          <a:noFill/>
          <a:ln/>
        </p:spPr>
        <p:txBody>
          <a:bodyPr wrap="square" lIns="0" tIns="0" rIns="0" bIns="0" rtlCol="0" anchor="t"/>
          <a:lstStyle/>
          <a:p>
            <a:pPr marL="0" indent="0">
              <a:buNone/>
            </a:pPr>
            <a:r>
              <a:rPr lang="en-US" sz="1800" b="1" dirty="0">
                <a:solidFill>
                  <a:schemeClr val="accent4"/>
                </a:solidFill>
              </a:rPr>
              <a:t>5</a:t>
            </a:r>
            <a:endParaRPr lang="en-US" sz="1800" dirty="0"/>
          </a:p>
        </p:txBody>
      </p:sp>
      <p:sp>
        <p:nvSpPr>
          <p:cNvPr id="23" name="Text 21"/>
          <p:cNvSpPr txBox="1"/>
          <p:nvPr/>
        </p:nvSpPr>
        <p:spPr>
          <a:xfrm>
            <a:off x="9729216" y="1938528"/>
            <a:ext cx="1737360" cy="822960"/>
          </a:xfrm>
          <a:prstGeom prst="rect">
            <a:avLst/>
          </a:prstGeom>
          <a:noFill/>
          <a:ln/>
        </p:spPr>
        <p:txBody>
          <a:bodyPr wrap="square" lIns="0" tIns="0" rIns="0" bIns="0" rtlCol="0" anchor="t"/>
          <a:lstStyle/>
          <a:p>
            <a:pPr marL="0" indent="0">
              <a:buNone/>
            </a:pPr>
            <a:r>
              <a:rPr lang="en-US" sz="1400" b="1" dirty="0">
                <a:solidFill>
                  <a:schemeClr val="tx2"/>
                </a:solidFill>
              </a:rPr>
              <a:t>Score the held-out fold</a:t>
            </a:r>
            <a:endParaRPr lang="en-US" sz="1400" dirty="0"/>
          </a:p>
        </p:txBody>
      </p:sp>
      <p:sp>
        <p:nvSpPr>
          <p:cNvPr id="24" name="numeric prep card"/>
          <p:cNvSpPr/>
          <p:nvPr/>
        </p:nvSpPr>
        <p:spPr>
          <a:xfrm>
            <a:off x="548640" y="3200400"/>
            <a:ext cx="5394960" cy="2194560"/>
          </a:xfrm>
          <a:prstGeom prst="roundRect">
            <a:avLst>
              <a:gd name="adj" fmla="val 5000"/>
            </a:avLst>
          </a:prstGeom>
          <a:solidFill>
            <a:schemeClr val="bg2"/>
          </a:solidFill>
          <a:ln/>
        </p:spPr>
        <p:txBody>
          <a:bodyPr/>
          <a:lstStyle/>
          <a:p>
            <a:endParaRPr lang="en-US"/>
          </a:p>
        </p:txBody>
      </p:sp>
      <p:sp>
        <p:nvSpPr>
          <p:cNvPr id="25" name="Text 23"/>
          <p:cNvSpPr txBox="1"/>
          <p:nvPr/>
        </p:nvSpPr>
        <p:spPr>
          <a:xfrm>
            <a:off x="777240" y="3383280"/>
            <a:ext cx="4937760" cy="365760"/>
          </a:xfrm>
          <a:prstGeom prst="rect">
            <a:avLst/>
          </a:prstGeom>
          <a:noFill/>
          <a:ln/>
        </p:spPr>
        <p:txBody>
          <a:bodyPr wrap="square" lIns="0" tIns="0" rIns="0" bIns="0" rtlCol="0" anchor="t"/>
          <a:lstStyle/>
          <a:p>
            <a:pPr marL="0" indent="0">
              <a:buNone/>
            </a:pPr>
            <a:r>
              <a:rPr lang="en-US" sz="1700" b="1" dirty="0">
                <a:solidFill>
                  <a:schemeClr val="tx2"/>
                </a:solidFill>
              </a:rPr>
              <a:t>LR, SVM, RF, GB: 20 numeric inputs</a:t>
            </a:r>
            <a:endParaRPr lang="en-US" sz="1700" dirty="0"/>
          </a:p>
        </p:txBody>
      </p:sp>
      <p:sp>
        <p:nvSpPr>
          <p:cNvPr id="26" name="Text 24"/>
          <p:cNvSpPr txBox="1"/>
          <p:nvPr/>
        </p:nvSpPr>
        <p:spPr>
          <a:xfrm>
            <a:off x="777240" y="3931920"/>
            <a:ext cx="4937760" cy="1371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Median / most-frequent imputation</a:t>
            </a:r>
            <a:endParaRPr lang="en-US" sz="1500" dirty="0"/>
          </a:p>
          <a:p>
            <a:pPr marL="342900" indent="-342900">
              <a:spcAft>
                <a:spcPts val="800"/>
              </a:spcAft>
              <a:buSzPct val="100000"/>
              <a:buChar char="•"/>
            </a:pPr>
            <a:r>
              <a:rPr lang="en-US" sz="1500" dirty="0">
                <a:solidFill>
                  <a:schemeClr val="tx1"/>
                </a:solidFill>
              </a:rPr>
              <a:t>Standardise continuous and ordinal features</a:t>
            </a:r>
            <a:endParaRPr lang="en-US" sz="1500" dirty="0"/>
          </a:p>
          <a:p>
            <a:pPr marL="342900" indent="-342900">
              <a:spcAft>
                <a:spcPts val="800"/>
              </a:spcAft>
              <a:buSzPct val="100000"/>
              <a:buChar char="•"/>
            </a:pPr>
            <a:r>
              <a:rPr lang="en-US" sz="1500" dirty="0">
                <a:solidFill>
                  <a:schemeClr val="tx1"/>
                </a:solidFill>
              </a:rPr>
              <a:t>One-hot encode cp, restecg, thal</a:t>
            </a:r>
            <a:endParaRPr lang="en-US" sz="1500" dirty="0"/>
          </a:p>
        </p:txBody>
      </p:sp>
      <p:sp>
        <p:nvSpPr>
          <p:cNvPr id="27" name="discrete prep card"/>
          <p:cNvSpPr/>
          <p:nvPr/>
        </p:nvSpPr>
        <p:spPr>
          <a:xfrm>
            <a:off x="6217920" y="3200400"/>
            <a:ext cx="5394960" cy="2194560"/>
          </a:xfrm>
          <a:prstGeom prst="roundRect">
            <a:avLst>
              <a:gd name="adj" fmla="val 5000"/>
            </a:avLst>
          </a:prstGeom>
          <a:solidFill>
            <a:schemeClr val="bg2"/>
          </a:solidFill>
          <a:ln/>
        </p:spPr>
        <p:txBody>
          <a:bodyPr/>
          <a:lstStyle/>
          <a:p>
            <a:endParaRPr lang="en-US"/>
          </a:p>
        </p:txBody>
      </p:sp>
      <p:sp>
        <p:nvSpPr>
          <p:cNvPr id="28" name="Text 26"/>
          <p:cNvSpPr txBox="1"/>
          <p:nvPr/>
        </p:nvSpPr>
        <p:spPr>
          <a:xfrm>
            <a:off x="6446520" y="3383280"/>
            <a:ext cx="5029200" cy="365760"/>
          </a:xfrm>
          <a:prstGeom prst="rect">
            <a:avLst/>
          </a:prstGeom>
          <a:noFill/>
          <a:ln/>
        </p:spPr>
        <p:txBody>
          <a:bodyPr wrap="square" lIns="0" tIns="0" rIns="0" bIns="0" rtlCol="0" anchor="t"/>
          <a:lstStyle/>
          <a:p>
            <a:pPr marL="0" indent="0">
              <a:buNone/>
            </a:pPr>
            <a:r>
              <a:rPr lang="en-US" sz="1700" b="1" dirty="0">
                <a:solidFill>
                  <a:schemeClr val="tx2"/>
                </a:solidFill>
              </a:rPr>
              <a:t>Bayesian network, Naive Bayes: 13 discrete inputs</a:t>
            </a:r>
            <a:endParaRPr lang="en-US" sz="1700" dirty="0"/>
          </a:p>
        </p:txBody>
      </p:sp>
      <p:sp>
        <p:nvSpPr>
          <p:cNvPr id="29" name="Text 27"/>
          <p:cNvSpPr txBox="1"/>
          <p:nvPr/>
        </p:nvSpPr>
        <p:spPr>
          <a:xfrm>
            <a:off x="6446520" y="3931920"/>
            <a:ext cx="4937760" cy="1371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Continuous features cut into training-fold tertiles</a:t>
            </a:r>
            <a:endParaRPr lang="en-US" sz="1500" dirty="0"/>
          </a:p>
          <a:p>
            <a:pPr marL="342900" indent="-342900">
              <a:spcAft>
                <a:spcPts val="800"/>
              </a:spcAft>
              <a:buSzPct val="100000"/>
              <a:buChar char="•"/>
            </a:pPr>
            <a:r>
              <a:rPr lang="en-US" sz="1500" dirty="0">
                <a:solidFill>
                  <a:schemeClr val="tx1"/>
                </a:solidFill>
              </a:rPr>
              <a:t>Integer codes from the training categories</a:t>
            </a:r>
            <a:endParaRPr lang="en-US" sz="1500" dirty="0"/>
          </a:p>
          <a:p>
            <a:pPr marL="342900" indent="-342900">
              <a:spcAft>
                <a:spcPts val="800"/>
              </a:spcAft>
              <a:buSzPct val="100000"/>
              <a:buChar char="•"/>
            </a:pPr>
            <a:r>
              <a:rPr lang="en-US" sz="1500" dirty="0">
                <a:solidFill>
                  <a:schemeClr val="tx1"/>
                </a:solidFill>
              </a:rPr>
              <a:t>Missing or unseen values → training mode</a:t>
            </a:r>
            <a:endParaRPr lang="en-US" sz="1500" dirty="0"/>
          </a:p>
        </p:txBody>
      </p:sp>
      <p:sp>
        <p:nvSpPr>
          <p:cNvPr id="30" name="Text 28"/>
          <p:cNvSpPr txBox="1"/>
          <p:nvPr/>
        </p:nvSpPr>
        <p:spPr>
          <a:xfrm>
            <a:off x="548640" y="5623560"/>
            <a:ext cx="11064240" cy="548640"/>
          </a:xfrm>
          <a:prstGeom prst="rect">
            <a:avLst/>
          </a:prstGeom>
          <a:noFill/>
          <a:ln/>
        </p:spPr>
        <p:txBody>
          <a:bodyPr wrap="square" lIns="0" tIns="0" rIns="0" bIns="0" rtlCol="0" anchor="t"/>
          <a:lstStyle/>
          <a:p>
            <a:pPr marL="0" indent="0">
              <a:buNone/>
            </a:pPr>
            <a:r>
              <a:rPr lang="en-US" sz="1500" i="1" dirty="0">
                <a:solidFill>
                  <a:schemeClr val="tx1"/>
                </a:solidFill>
              </a:rPr>
              <a:t>Medians, scaling statistics, categories and bin edges are learned from the training fold only and refitted in every fold.</a:t>
            </a:r>
            <a:endParaRPr lang="en-US" sz="15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4" name="Text 0"/>
          <p:cNvSpPr>
            <a:spLocks noGrp="1"/>
          </p:cNvSpPr>
          <p:nvPr>
            <p:ph type="title" idx="100" hasCustomPrompt="1"/>
          </p:nvPr>
        </p:nvSpPr>
        <p:spPr>
          <a:xfrm>
            <a:off x="548640" y="365760"/>
            <a:ext cx="914400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Data splits and evaluation metrics</a:t>
            </a:r>
            <a:endParaRPr lang="en-US" sz="3200" dirty="0"/>
          </a:p>
        </p:txBody>
      </p:sp>
      <p:sp>
        <p:nvSpPr>
          <p:cNvPr id="5" name="splits card"/>
          <p:cNvSpPr/>
          <p:nvPr/>
        </p:nvSpPr>
        <p:spPr>
          <a:xfrm>
            <a:off x="548640" y="1417320"/>
            <a:ext cx="5120640" cy="4709160"/>
          </a:xfrm>
          <a:prstGeom prst="roundRect">
            <a:avLst>
              <a:gd name="adj" fmla="val 2330"/>
            </a:avLst>
          </a:prstGeom>
          <a:solidFill>
            <a:schemeClr val="bg2"/>
          </a:solidFill>
          <a:ln/>
        </p:spPr>
        <p:txBody>
          <a:bodyPr/>
          <a:lstStyle/>
          <a:p>
            <a:endParaRPr lang="en-US"/>
          </a:p>
        </p:txBody>
      </p:sp>
      <p:sp>
        <p:nvSpPr>
          <p:cNvPr id="6" name="Text 4"/>
          <p:cNvSpPr txBox="1"/>
          <p:nvPr/>
        </p:nvSpPr>
        <p:spPr>
          <a:xfrm>
            <a:off x="822960" y="1600200"/>
            <a:ext cx="4663440" cy="365760"/>
          </a:xfrm>
          <a:prstGeom prst="rect">
            <a:avLst/>
          </a:prstGeom>
          <a:noFill/>
          <a:ln/>
        </p:spPr>
        <p:txBody>
          <a:bodyPr wrap="square" lIns="0" tIns="0" rIns="0" bIns="0" rtlCol="0" anchor="t"/>
          <a:lstStyle/>
          <a:p>
            <a:pPr marL="0" indent="0">
              <a:buNone/>
            </a:pPr>
            <a:r>
              <a:rPr lang="en-US" sz="1700" b="1" dirty="0">
                <a:solidFill>
                  <a:schemeClr val="tx2"/>
                </a:solidFill>
              </a:rPr>
              <a:t>5-fold stratified CV × 5 repeats = 25 folds</a:t>
            </a:r>
            <a:endParaRPr lang="en-US" sz="1700" dirty="0"/>
          </a:p>
        </p:txBody>
      </p:sp>
      <p:sp>
        <p:nvSpPr>
          <p:cNvPr id="7" name="fold 1-1"/>
          <p:cNvSpPr/>
          <p:nvPr/>
        </p:nvSpPr>
        <p:spPr>
          <a:xfrm>
            <a:off x="822960" y="2148840"/>
            <a:ext cx="457200" cy="292608"/>
          </a:xfrm>
          <a:prstGeom prst="rect">
            <a:avLst/>
          </a:prstGeom>
          <a:solidFill>
            <a:schemeClr val="accent4"/>
          </a:solidFill>
          <a:ln/>
        </p:spPr>
        <p:txBody>
          <a:bodyPr/>
          <a:lstStyle/>
          <a:p>
            <a:endParaRPr lang="en-US"/>
          </a:p>
        </p:txBody>
      </p:sp>
      <p:sp>
        <p:nvSpPr>
          <p:cNvPr id="8" name="fold 1-2"/>
          <p:cNvSpPr/>
          <p:nvPr/>
        </p:nvSpPr>
        <p:spPr>
          <a:xfrm>
            <a:off x="1325880" y="2148840"/>
            <a:ext cx="457200" cy="292608"/>
          </a:xfrm>
          <a:prstGeom prst="rect">
            <a:avLst/>
          </a:prstGeom>
          <a:solidFill>
            <a:schemeClr val="accent6"/>
          </a:solidFill>
          <a:ln/>
        </p:spPr>
        <p:txBody>
          <a:bodyPr/>
          <a:lstStyle/>
          <a:p>
            <a:endParaRPr lang="en-US"/>
          </a:p>
        </p:txBody>
      </p:sp>
      <p:sp>
        <p:nvSpPr>
          <p:cNvPr id="9" name="fold 1-3"/>
          <p:cNvSpPr/>
          <p:nvPr/>
        </p:nvSpPr>
        <p:spPr>
          <a:xfrm>
            <a:off x="1828800" y="2148840"/>
            <a:ext cx="457200" cy="292608"/>
          </a:xfrm>
          <a:prstGeom prst="rect">
            <a:avLst/>
          </a:prstGeom>
          <a:solidFill>
            <a:schemeClr val="accent6"/>
          </a:solidFill>
          <a:ln/>
        </p:spPr>
        <p:txBody>
          <a:bodyPr/>
          <a:lstStyle/>
          <a:p>
            <a:endParaRPr lang="en-US"/>
          </a:p>
        </p:txBody>
      </p:sp>
      <p:sp>
        <p:nvSpPr>
          <p:cNvPr id="10" name="fold 1-4"/>
          <p:cNvSpPr/>
          <p:nvPr/>
        </p:nvSpPr>
        <p:spPr>
          <a:xfrm>
            <a:off x="2331720" y="2148840"/>
            <a:ext cx="457200" cy="292608"/>
          </a:xfrm>
          <a:prstGeom prst="rect">
            <a:avLst/>
          </a:prstGeom>
          <a:solidFill>
            <a:schemeClr val="accent6"/>
          </a:solidFill>
          <a:ln/>
        </p:spPr>
        <p:txBody>
          <a:bodyPr/>
          <a:lstStyle/>
          <a:p>
            <a:endParaRPr lang="en-US"/>
          </a:p>
        </p:txBody>
      </p:sp>
      <p:sp>
        <p:nvSpPr>
          <p:cNvPr id="11" name="fold 1-5"/>
          <p:cNvSpPr/>
          <p:nvPr/>
        </p:nvSpPr>
        <p:spPr>
          <a:xfrm>
            <a:off x="2834640" y="2148840"/>
            <a:ext cx="457200" cy="292608"/>
          </a:xfrm>
          <a:prstGeom prst="rect">
            <a:avLst/>
          </a:prstGeom>
          <a:solidFill>
            <a:schemeClr val="accent6"/>
          </a:solidFill>
          <a:ln/>
        </p:spPr>
        <p:txBody>
          <a:bodyPr/>
          <a:lstStyle/>
          <a:p>
            <a:endParaRPr lang="en-US"/>
          </a:p>
        </p:txBody>
      </p:sp>
      <p:sp>
        <p:nvSpPr>
          <p:cNvPr id="12" name="fold 2-1"/>
          <p:cNvSpPr/>
          <p:nvPr/>
        </p:nvSpPr>
        <p:spPr>
          <a:xfrm>
            <a:off x="822960" y="2532888"/>
            <a:ext cx="457200" cy="292608"/>
          </a:xfrm>
          <a:prstGeom prst="rect">
            <a:avLst/>
          </a:prstGeom>
          <a:solidFill>
            <a:schemeClr val="accent6"/>
          </a:solidFill>
          <a:ln/>
        </p:spPr>
        <p:txBody>
          <a:bodyPr/>
          <a:lstStyle/>
          <a:p>
            <a:endParaRPr lang="en-US"/>
          </a:p>
        </p:txBody>
      </p:sp>
      <p:sp>
        <p:nvSpPr>
          <p:cNvPr id="13" name="fold 2-2"/>
          <p:cNvSpPr/>
          <p:nvPr/>
        </p:nvSpPr>
        <p:spPr>
          <a:xfrm>
            <a:off x="1325880" y="2532888"/>
            <a:ext cx="457200" cy="292608"/>
          </a:xfrm>
          <a:prstGeom prst="rect">
            <a:avLst/>
          </a:prstGeom>
          <a:solidFill>
            <a:schemeClr val="accent4"/>
          </a:solidFill>
          <a:ln/>
        </p:spPr>
        <p:txBody>
          <a:bodyPr/>
          <a:lstStyle/>
          <a:p>
            <a:endParaRPr lang="en-US"/>
          </a:p>
        </p:txBody>
      </p:sp>
      <p:sp>
        <p:nvSpPr>
          <p:cNvPr id="14" name="fold 2-3"/>
          <p:cNvSpPr/>
          <p:nvPr/>
        </p:nvSpPr>
        <p:spPr>
          <a:xfrm>
            <a:off x="1828800" y="2532888"/>
            <a:ext cx="457200" cy="292608"/>
          </a:xfrm>
          <a:prstGeom prst="rect">
            <a:avLst/>
          </a:prstGeom>
          <a:solidFill>
            <a:schemeClr val="accent6"/>
          </a:solidFill>
          <a:ln/>
        </p:spPr>
        <p:txBody>
          <a:bodyPr/>
          <a:lstStyle/>
          <a:p>
            <a:endParaRPr lang="en-US"/>
          </a:p>
        </p:txBody>
      </p:sp>
      <p:sp>
        <p:nvSpPr>
          <p:cNvPr id="15" name="fold 2-4"/>
          <p:cNvSpPr/>
          <p:nvPr/>
        </p:nvSpPr>
        <p:spPr>
          <a:xfrm>
            <a:off x="2331720" y="2532888"/>
            <a:ext cx="457200" cy="292608"/>
          </a:xfrm>
          <a:prstGeom prst="rect">
            <a:avLst/>
          </a:prstGeom>
          <a:solidFill>
            <a:schemeClr val="accent6"/>
          </a:solidFill>
          <a:ln/>
        </p:spPr>
        <p:txBody>
          <a:bodyPr/>
          <a:lstStyle/>
          <a:p>
            <a:endParaRPr lang="en-US"/>
          </a:p>
        </p:txBody>
      </p:sp>
      <p:sp>
        <p:nvSpPr>
          <p:cNvPr id="16" name="fold 2-5"/>
          <p:cNvSpPr/>
          <p:nvPr/>
        </p:nvSpPr>
        <p:spPr>
          <a:xfrm>
            <a:off x="2834640" y="2532888"/>
            <a:ext cx="457200" cy="292608"/>
          </a:xfrm>
          <a:prstGeom prst="rect">
            <a:avLst/>
          </a:prstGeom>
          <a:solidFill>
            <a:schemeClr val="accent6"/>
          </a:solidFill>
          <a:ln/>
        </p:spPr>
        <p:txBody>
          <a:bodyPr/>
          <a:lstStyle/>
          <a:p>
            <a:endParaRPr lang="en-US"/>
          </a:p>
        </p:txBody>
      </p:sp>
      <p:sp>
        <p:nvSpPr>
          <p:cNvPr id="17" name="fold 3-1"/>
          <p:cNvSpPr/>
          <p:nvPr/>
        </p:nvSpPr>
        <p:spPr>
          <a:xfrm>
            <a:off x="822960" y="2916936"/>
            <a:ext cx="457200" cy="292608"/>
          </a:xfrm>
          <a:prstGeom prst="rect">
            <a:avLst/>
          </a:prstGeom>
          <a:solidFill>
            <a:schemeClr val="accent6"/>
          </a:solidFill>
          <a:ln/>
        </p:spPr>
        <p:txBody>
          <a:bodyPr/>
          <a:lstStyle/>
          <a:p>
            <a:endParaRPr lang="en-US"/>
          </a:p>
        </p:txBody>
      </p:sp>
      <p:sp>
        <p:nvSpPr>
          <p:cNvPr id="18" name="fold 3-2"/>
          <p:cNvSpPr/>
          <p:nvPr/>
        </p:nvSpPr>
        <p:spPr>
          <a:xfrm>
            <a:off x="1325880" y="2916936"/>
            <a:ext cx="457200" cy="292608"/>
          </a:xfrm>
          <a:prstGeom prst="rect">
            <a:avLst/>
          </a:prstGeom>
          <a:solidFill>
            <a:schemeClr val="accent6"/>
          </a:solidFill>
          <a:ln/>
        </p:spPr>
        <p:txBody>
          <a:bodyPr/>
          <a:lstStyle/>
          <a:p>
            <a:endParaRPr lang="en-US"/>
          </a:p>
        </p:txBody>
      </p:sp>
      <p:sp>
        <p:nvSpPr>
          <p:cNvPr id="19" name="fold 3-3"/>
          <p:cNvSpPr/>
          <p:nvPr/>
        </p:nvSpPr>
        <p:spPr>
          <a:xfrm>
            <a:off x="1828800" y="2916936"/>
            <a:ext cx="457200" cy="292608"/>
          </a:xfrm>
          <a:prstGeom prst="rect">
            <a:avLst/>
          </a:prstGeom>
          <a:solidFill>
            <a:schemeClr val="accent4"/>
          </a:solidFill>
          <a:ln/>
        </p:spPr>
        <p:txBody>
          <a:bodyPr/>
          <a:lstStyle/>
          <a:p>
            <a:endParaRPr lang="en-US"/>
          </a:p>
        </p:txBody>
      </p:sp>
      <p:sp>
        <p:nvSpPr>
          <p:cNvPr id="20" name="fold 3-4"/>
          <p:cNvSpPr/>
          <p:nvPr/>
        </p:nvSpPr>
        <p:spPr>
          <a:xfrm>
            <a:off x="2331720" y="2916936"/>
            <a:ext cx="457200" cy="292608"/>
          </a:xfrm>
          <a:prstGeom prst="rect">
            <a:avLst/>
          </a:prstGeom>
          <a:solidFill>
            <a:schemeClr val="accent6"/>
          </a:solidFill>
          <a:ln/>
        </p:spPr>
        <p:txBody>
          <a:bodyPr/>
          <a:lstStyle/>
          <a:p>
            <a:endParaRPr lang="en-US"/>
          </a:p>
        </p:txBody>
      </p:sp>
      <p:sp>
        <p:nvSpPr>
          <p:cNvPr id="21" name="fold 3-5"/>
          <p:cNvSpPr/>
          <p:nvPr/>
        </p:nvSpPr>
        <p:spPr>
          <a:xfrm>
            <a:off x="2834640" y="2916936"/>
            <a:ext cx="457200" cy="292608"/>
          </a:xfrm>
          <a:prstGeom prst="rect">
            <a:avLst/>
          </a:prstGeom>
          <a:solidFill>
            <a:schemeClr val="accent6"/>
          </a:solidFill>
          <a:ln/>
        </p:spPr>
        <p:txBody>
          <a:bodyPr/>
          <a:lstStyle/>
          <a:p>
            <a:endParaRPr lang="en-US"/>
          </a:p>
        </p:txBody>
      </p:sp>
      <p:sp>
        <p:nvSpPr>
          <p:cNvPr id="22" name="fold 4-1"/>
          <p:cNvSpPr/>
          <p:nvPr/>
        </p:nvSpPr>
        <p:spPr>
          <a:xfrm>
            <a:off x="822960" y="3300984"/>
            <a:ext cx="457200" cy="292608"/>
          </a:xfrm>
          <a:prstGeom prst="rect">
            <a:avLst/>
          </a:prstGeom>
          <a:solidFill>
            <a:schemeClr val="accent6"/>
          </a:solidFill>
          <a:ln/>
        </p:spPr>
        <p:txBody>
          <a:bodyPr/>
          <a:lstStyle/>
          <a:p>
            <a:endParaRPr lang="en-US"/>
          </a:p>
        </p:txBody>
      </p:sp>
      <p:sp>
        <p:nvSpPr>
          <p:cNvPr id="23" name="fold 4-2"/>
          <p:cNvSpPr/>
          <p:nvPr/>
        </p:nvSpPr>
        <p:spPr>
          <a:xfrm>
            <a:off x="1325880" y="3300984"/>
            <a:ext cx="457200" cy="292608"/>
          </a:xfrm>
          <a:prstGeom prst="rect">
            <a:avLst/>
          </a:prstGeom>
          <a:solidFill>
            <a:schemeClr val="accent6"/>
          </a:solidFill>
          <a:ln/>
        </p:spPr>
        <p:txBody>
          <a:bodyPr/>
          <a:lstStyle/>
          <a:p>
            <a:endParaRPr lang="en-US"/>
          </a:p>
        </p:txBody>
      </p:sp>
      <p:sp>
        <p:nvSpPr>
          <p:cNvPr id="24" name="fold 4-3"/>
          <p:cNvSpPr/>
          <p:nvPr/>
        </p:nvSpPr>
        <p:spPr>
          <a:xfrm>
            <a:off x="1828800" y="3300984"/>
            <a:ext cx="457200" cy="292608"/>
          </a:xfrm>
          <a:prstGeom prst="rect">
            <a:avLst/>
          </a:prstGeom>
          <a:solidFill>
            <a:schemeClr val="accent6"/>
          </a:solidFill>
          <a:ln/>
        </p:spPr>
        <p:txBody>
          <a:bodyPr/>
          <a:lstStyle/>
          <a:p>
            <a:endParaRPr lang="en-US"/>
          </a:p>
        </p:txBody>
      </p:sp>
      <p:sp>
        <p:nvSpPr>
          <p:cNvPr id="25" name="fold 4-4"/>
          <p:cNvSpPr/>
          <p:nvPr/>
        </p:nvSpPr>
        <p:spPr>
          <a:xfrm>
            <a:off x="2331720" y="3300984"/>
            <a:ext cx="457200" cy="292608"/>
          </a:xfrm>
          <a:prstGeom prst="rect">
            <a:avLst/>
          </a:prstGeom>
          <a:solidFill>
            <a:schemeClr val="accent4"/>
          </a:solidFill>
          <a:ln/>
        </p:spPr>
        <p:txBody>
          <a:bodyPr/>
          <a:lstStyle/>
          <a:p>
            <a:endParaRPr lang="en-US"/>
          </a:p>
        </p:txBody>
      </p:sp>
      <p:sp>
        <p:nvSpPr>
          <p:cNvPr id="26" name="fold 4-5"/>
          <p:cNvSpPr/>
          <p:nvPr/>
        </p:nvSpPr>
        <p:spPr>
          <a:xfrm>
            <a:off x="2834640" y="3300984"/>
            <a:ext cx="457200" cy="292608"/>
          </a:xfrm>
          <a:prstGeom prst="rect">
            <a:avLst/>
          </a:prstGeom>
          <a:solidFill>
            <a:schemeClr val="accent6"/>
          </a:solidFill>
          <a:ln/>
        </p:spPr>
        <p:txBody>
          <a:bodyPr/>
          <a:lstStyle/>
          <a:p>
            <a:endParaRPr lang="en-US"/>
          </a:p>
        </p:txBody>
      </p:sp>
      <p:sp>
        <p:nvSpPr>
          <p:cNvPr id="27" name="fold 5-1"/>
          <p:cNvSpPr/>
          <p:nvPr/>
        </p:nvSpPr>
        <p:spPr>
          <a:xfrm>
            <a:off x="822960" y="3685032"/>
            <a:ext cx="457200" cy="292608"/>
          </a:xfrm>
          <a:prstGeom prst="rect">
            <a:avLst/>
          </a:prstGeom>
          <a:solidFill>
            <a:schemeClr val="accent6"/>
          </a:solidFill>
          <a:ln/>
        </p:spPr>
        <p:txBody>
          <a:bodyPr/>
          <a:lstStyle/>
          <a:p>
            <a:endParaRPr lang="en-US"/>
          </a:p>
        </p:txBody>
      </p:sp>
      <p:sp>
        <p:nvSpPr>
          <p:cNvPr id="28" name="fold 5-2"/>
          <p:cNvSpPr/>
          <p:nvPr/>
        </p:nvSpPr>
        <p:spPr>
          <a:xfrm>
            <a:off x="1325880" y="3685032"/>
            <a:ext cx="457200" cy="292608"/>
          </a:xfrm>
          <a:prstGeom prst="rect">
            <a:avLst/>
          </a:prstGeom>
          <a:solidFill>
            <a:schemeClr val="accent6"/>
          </a:solidFill>
          <a:ln/>
        </p:spPr>
        <p:txBody>
          <a:bodyPr/>
          <a:lstStyle/>
          <a:p>
            <a:endParaRPr lang="en-US"/>
          </a:p>
        </p:txBody>
      </p:sp>
      <p:sp>
        <p:nvSpPr>
          <p:cNvPr id="29" name="fold 5-3"/>
          <p:cNvSpPr/>
          <p:nvPr/>
        </p:nvSpPr>
        <p:spPr>
          <a:xfrm>
            <a:off x="1828800" y="3685032"/>
            <a:ext cx="457200" cy="292608"/>
          </a:xfrm>
          <a:prstGeom prst="rect">
            <a:avLst/>
          </a:prstGeom>
          <a:solidFill>
            <a:schemeClr val="accent6"/>
          </a:solidFill>
          <a:ln/>
        </p:spPr>
        <p:txBody>
          <a:bodyPr/>
          <a:lstStyle/>
          <a:p>
            <a:endParaRPr lang="en-US"/>
          </a:p>
        </p:txBody>
      </p:sp>
      <p:sp>
        <p:nvSpPr>
          <p:cNvPr id="30" name="fold 5-4"/>
          <p:cNvSpPr/>
          <p:nvPr/>
        </p:nvSpPr>
        <p:spPr>
          <a:xfrm>
            <a:off x="2331720" y="3685032"/>
            <a:ext cx="457200" cy="292608"/>
          </a:xfrm>
          <a:prstGeom prst="rect">
            <a:avLst/>
          </a:prstGeom>
          <a:solidFill>
            <a:schemeClr val="accent6"/>
          </a:solidFill>
          <a:ln/>
        </p:spPr>
        <p:txBody>
          <a:bodyPr/>
          <a:lstStyle/>
          <a:p>
            <a:endParaRPr lang="en-US"/>
          </a:p>
        </p:txBody>
      </p:sp>
      <p:sp>
        <p:nvSpPr>
          <p:cNvPr id="31" name="fold 5-5"/>
          <p:cNvSpPr/>
          <p:nvPr/>
        </p:nvSpPr>
        <p:spPr>
          <a:xfrm>
            <a:off x="2834640" y="3685032"/>
            <a:ext cx="457200" cy="292608"/>
          </a:xfrm>
          <a:prstGeom prst="rect">
            <a:avLst/>
          </a:prstGeom>
          <a:solidFill>
            <a:schemeClr val="accent4"/>
          </a:solidFill>
          <a:ln/>
        </p:spPr>
        <p:txBody>
          <a:bodyPr/>
          <a:lstStyle/>
          <a:p>
            <a:endParaRPr lang="en-US"/>
          </a:p>
        </p:txBody>
      </p:sp>
      <p:sp>
        <p:nvSpPr>
          <p:cNvPr id="32" name="Text 30"/>
          <p:cNvSpPr txBox="1"/>
          <p:nvPr/>
        </p:nvSpPr>
        <p:spPr>
          <a:xfrm>
            <a:off x="3474720" y="2194560"/>
            <a:ext cx="2011680" cy="1280160"/>
          </a:xfrm>
          <a:prstGeom prst="rect">
            <a:avLst/>
          </a:prstGeom>
          <a:noFill/>
          <a:ln/>
        </p:spPr>
        <p:txBody>
          <a:bodyPr wrap="square" lIns="0" tIns="0" rIns="0" bIns="0" rtlCol="0" anchor="t"/>
          <a:lstStyle/>
          <a:p>
            <a:pPr marL="0" indent="0">
              <a:buNone/>
            </a:pPr>
            <a:r>
              <a:rPr lang="en-US" sz="1300" dirty="0">
                <a:solidFill>
                  <a:schemeClr val="accent5"/>
                </a:solidFill>
              </a:rPr>
              <a:t>red = held-out fold (~60 patients), grey = training folds (~240)</a:t>
            </a:r>
            <a:endParaRPr lang="en-US" sz="1300" dirty="0"/>
          </a:p>
        </p:txBody>
      </p:sp>
      <p:sp>
        <p:nvSpPr>
          <p:cNvPr id="33" name="Text 31"/>
          <p:cNvSpPr txBox="1"/>
          <p:nvPr/>
        </p:nvSpPr>
        <p:spPr>
          <a:xfrm>
            <a:off x="822960" y="4206240"/>
            <a:ext cx="466344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Stratified: every fold keeps ~46% disease</a:t>
            </a:r>
            <a:endParaRPr lang="en-US" sz="1400" dirty="0"/>
          </a:p>
          <a:p>
            <a:pPr marL="342900" indent="-342900">
              <a:spcAft>
                <a:spcPts val="800"/>
              </a:spcAft>
              <a:buSzPct val="100000"/>
              <a:buChar char="•"/>
            </a:pPr>
            <a:r>
              <a:rPr lang="en-US" sz="1400" dirty="0">
                <a:solidFill>
                  <a:schemeClr val="tx1"/>
                </a:solidFill>
              </a:rPr>
              <a:t>The same 25 splits for all six models (seed 42), so comparisons are fair and paired</a:t>
            </a:r>
            <a:endParaRPr lang="en-US" sz="1400" dirty="0"/>
          </a:p>
          <a:p>
            <a:pPr marL="342900" indent="-342900">
              <a:spcAft>
                <a:spcPts val="800"/>
              </a:spcAft>
              <a:buSzPct val="100000"/>
              <a:buChar char="•"/>
            </a:pPr>
            <a:r>
              <a:rPr lang="en-US" sz="1400" dirty="0">
                <a:solidFill>
                  <a:schemeClr val="tx1"/>
                </a:solidFill>
              </a:rPr>
              <a:t>Each patient is predicted once per repeat by a model that never saw them</a:t>
            </a:r>
            <a:endParaRPr lang="en-US" sz="1400" dirty="0"/>
          </a:p>
        </p:txBody>
      </p:sp>
      <p:sp>
        <p:nvSpPr>
          <p:cNvPr id="34" name="Text 32"/>
          <p:cNvSpPr txBox="1"/>
          <p:nvPr/>
        </p:nvSpPr>
        <p:spPr>
          <a:xfrm>
            <a:off x="6035040" y="1463040"/>
            <a:ext cx="2103120" cy="548640"/>
          </a:xfrm>
          <a:prstGeom prst="rect">
            <a:avLst/>
          </a:prstGeom>
          <a:noFill/>
          <a:ln/>
        </p:spPr>
        <p:txBody>
          <a:bodyPr wrap="square" lIns="0" tIns="0" rIns="0" bIns="0" rtlCol="0" anchor="t"/>
          <a:lstStyle/>
          <a:p>
            <a:pPr marL="0" indent="0">
              <a:buNone/>
            </a:pPr>
            <a:r>
              <a:rPr lang="en-US" sz="1500" b="1" dirty="0">
                <a:solidFill>
                  <a:schemeClr val="tx2"/>
                </a:solidFill>
              </a:rPr>
              <a:t>Accuracy</a:t>
            </a:r>
            <a:endParaRPr lang="en-US" sz="1500" dirty="0"/>
          </a:p>
        </p:txBody>
      </p:sp>
      <p:sp>
        <p:nvSpPr>
          <p:cNvPr id="35" name="Text 33"/>
          <p:cNvSpPr txBox="1"/>
          <p:nvPr/>
        </p:nvSpPr>
        <p:spPr>
          <a:xfrm>
            <a:off x="8138160" y="1463040"/>
            <a:ext cx="3474720" cy="594360"/>
          </a:xfrm>
          <a:prstGeom prst="rect">
            <a:avLst/>
          </a:prstGeom>
          <a:noFill/>
          <a:ln/>
        </p:spPr>
        <p:txBody>
          <a:bodyPr wrap="square" lIns="0" tIns="0" rIns="0" bIns="0" rtlCol="0" anchor="t"/>
          <a:lstStyle/>
          <a:p>
            <a:pPr marL="0" indent="0">
              <a:buNone/>
            </a:pPr>
            <a:r>
              <a:rPr lang="en-US" sz="1400" dirty="0">
                <a:solidFill>
                  <a:schemeClr val="tx1"/>
                </a:solidFill>
              </a:rPr>
              <a:t>share of all patients classified correctly</a:t>
            </a:r>
            <a:endParaRPr lang="en-US" sz="1400" dirty="0"/>
          </a:p>
        </p:txBody>
      </p:sp>
      <p:sp>
        <p:nvSpPr>
          <p:cNvPr id="36" name="Text 34"/>
          <p:cNvSpPr txBox="1"/>
          <p:nvPr/>
        </p:nvSpPr>
        <p:spPr>
          <a:xfrm>
            <a:off x="6035040" y="2130552"/>
            <a:ext cx="2103120" cy="548640"/>
          </a:xfrm>
          <a:prstGeom prst="rect">
            <a:avLst/>
          </a:prstGeom>
          <a:noFill/>
          <a:ln/>
        </p:spPr>
        <p:txBody>
          <a:bodyPr wrap="square" lIns="0" tIns="0" rIns="0" bIns="0" rtlCol="0" anchor="t"/>
          <a:lstStyle/>
          <a:p>
            <a:pPr marL="0" indent="0">
              <a:buNone/>
            </a:pPr>
            <a:r>
              <a:rPr lang="en-US" sz="1500" b="1" dirty="0">
                <a:solidFill>
                  <a:schemeClr val="tx2"/>
                </a:solidFill>
              </a:rPr>
              <a:t>Sensitivity (recall)</a:t>
            </a:r>
            <a:endParaRPr lang="en-US" sz="1500" dirty="0"/>
          </a:p>
        </p:txBody>
      </p:sp>
      <p:sp>
        <p:nvSpPr>
          <p:cNvPr id="37" name="Text 35"/>
          <p:cNvSpPr txBox="1"/>
          <p:nvPr/>
        </p:nvSpPr>
        <p:spPr>
          <a:xfrm>
            <a:off x="8138160" y="2130552"/>
            <a:ext cx="3474720" cy="594360"/>
          </a:xfrm>
          <a:prstGeom prst="rect">
            <a:avLst/>
          </a:prstGeom>
          <a:noFill/>
          <a:ln/>
        </p:spPr>
        <p:txBody>
          <a:bodyPr wrap="square" lIns="0" tIns="0" rIns="0" bIns="0" rtlCol="0" anchor="t"/>
          <a:lstStyle/>
          <a:p>
            <a:pPr marL="0" indent="0">
              <a:buNone/>
            </a:pPr>
            <a:r>
              <a:rPr lang="en-US" sz="1400" dirty="0">
                <a:solidFill>
                  <a:schemeClr val="tx1"/>
                </a:solidFill>
              </a:rPr>
              <a:t>share of diseased patients detected: TP / (TP + FN)</a:t>
            </a:r>
            <a:endParaRPr lang="en-US" sz="1400" dirty="0"/>
          </a:p>
        </p:txBody>
      </p:sp>
      <p:sp>
        <p:nvSpPr>
          <p:cNvPr id="38" name="Text 36"/>
          <p:cNvSpPr txBox="1"/>
          <p:nvPr/>
        </p:nvSpPr>
        <p:spPr>
          <a:xfrm>
            <a:off x="6035040" y="2798064"/>
            <a:ext cx="2103120" cy="548640"/>
          </a:xfrm>
          <a:prstGeom prst="rect">
            <a:avLst/>
          </a:prstGeom>
          <a:noFill/>
          <a:ln/>
        </p:spPr>
        <p:txBody>
          <a:bodyPr wrap="square" lIns="0" tIns="0" rIns="0" bIns="0" rtlCol="0" anchor="t"/>
          <a:lstStyle/>
          <a:p>
            <a:pPr marL="0" indent="0">
              <a:buNone/>
            </a:pPr>
            <a:r>
              <a:rPr lang="en-US" sz="1500" b="1" dirty="0">
                <a:solidFill>
                  <a:schemeClr val="tx2"/>
                </a:solidFill>
              </a:rPr>
              <a:t>Specificity</a:t>
            </a:r>
            <a:endParaRPr lang="en-US" sz="1500" dirty="0"/>
          </a:p>
        </p:txBody>
      </p:sp>
      <p:sp>
        <p:nvSpPr>
          <p:cNvPr id="39" name="Text 37"/>
          <p:cNvSpPr txBox="1"/>
          <p:nvPr/>
        </p:nvSpPr>
        <p:spPr>
          <a:xfrm>
            <a:off x="8138160" y="2798064"/>
            <a:ext cx="3474720" cy="594360"/>
          </a:xfrm>
          <a:prstGeom prst="rect">
            <a:avLst/>
          </a:prstGeom>
          <a:noFill/>
          <a:ln/>
        </p:spPr>
        <p:txBody>
          <a:bodyPr wrap="square" lIns="0" tIns="0" rIns="0" bIns="0" rtlCol="0" anchor="t"/>
          <a:lstStyle/>
          <a:p>
            <a:pPr marL="0" indent="0">
              <a:buNone/>
            </a:pPr>
            <a:r>
              <a:rPr lang="en-US" sz="1400" dirty="0">
                <a:solidFill>
                  <a:schemeClr val="tx1"/>
                </a:solidFill>
              </a:rPr>
              <a:t>share of healthy patients cleared: TN / (TN + FP)</a:t>
            </a:r>
            <a:endParaRPr lang="en-US" sz="1400" dirty="0"/>
          </a:p>
        </p:txBody>
      </p:sp>
      <p:sp>
        <p:nvSpPr>
          <p:cNvPr id="40" name="Text 38"/>
          <p:cNvSpPr txBox="1"/>
          <p:nvPr/>
        </p:nvSpPr>
        <p:spPr>
          <a:xfrm>
            <a:off x="6035040" y="3465576"/>
            <a:ext cx="2103120" cy="548640"/>
          </a:xfrm>
          <a:prstGeom prst="rect">
            <a:avLst/>
          </a:prstGeom>
          <a:noFill/>
          <a:ln/>
        </p:spPr>
        <p:txBody>
          <a:bodyPr wrap="square" lIns="0" tIns="0" rIns="0" bIns="0" rtlCol="0" anchor="t"/>
          <a:lstStyle/>
          <a:p>
            <a:pPr marL="0" indent="0">
              <a:buNone/>
            </a:pPr>
            <a:r>
              <a:rPr lang="en-US" sz="1500" b="1" dirty="0">
                <a:solidFill>
                  <a:schemeClr val="tx2"/>
                </a:solidFill>
              </a:rPr>
              <a:t>Precision</a:t>
            </a:r>
            <a:endParaRPr lang="en-US" sz="1500" dirty="0"/>
          </a:p>
        </p:txBody>
      </p:sp>
      <p:sp>
        <p:nvSpPr>
          <p:cNvPr id="41" name="Text 39"/>
          <p:cNvSpPr txBox="1"/>
          <p:nvPr/>
        </p:nvSpPr>
        <p:spPr>
          <a:xfrm>
            <a:off x="8138160" y="3465576"/>
            <a:ext cx="3474720" cy="594360"/>
          </a:xfrm>
          <a:prstGeom prst="rect">
            <a:avLst/>
          </a:prstGeom>
          <a:noFill/>
          <a:ln/>
        </p:spPr>
        <p:txBody>
          <a:bodyPr wrap="square" lIns="0" tIns="0" rIns="0" bIns="0" rtlCol="0" anchor="t"/>
          <a:lstStyle/>
          <a:p>
            <a:pPr marL="0" indent="0">
              <a:buNone/>
            </a:pPr>
            <a:r>
              <a:rPr lang="en-US" sz="1400" dirty="0">
                <a:solidFill>
                  <a:schemeClr val="tx1"/>
                </a:solidFill>
              </a:rPr>
              <a:t>share of positive calls that are right: TP / (TP + FP)</a:t>
            </a:r>
            <a:endParaRPr lang="en-US" sz="1400" dirty="0"/>
          </a:p>
        </p:txBody>
      </p:sp>
      <p:sp>
        <p:nvSpPr>
          <p:cNvPr id="42" name="Text 40"/>
          <p:cNvSpPr txBox="1"/>
          <p:nvPr/>
        </p:nvSpPr>
        <p:spPr>
          <a:xfrm>
            <a:off x="6035040" y="4133088"/>
            <a:ext cx="2103120" cy="548640"/>
          </a:xfrm>
          <a:prstGeom prst="rect">
            <a:avLst/>
          </a:prstGeom>
          <a:noFill/>
          <a:ln/>
        </p:spPr>
        <p:txBody>
          <a:bodyPr wrap="square" lIns="0" tIns="0" rIns="0" bIns="0" rtlCol="0" anchor="t"/>
          <a:lstStyle/>
          <a:p>
            <a:pPr marL="0" indent="0">
              <a:buNone/>
            </a:pPr>
            <a:r>
              <a:rPr lang="en-US" sz="1500" b="1" dirty="0">
                <a:solidFill>
                  <a:schemeClr val="tx2"/>
                </a:solidFill>
              </a:rPr>
              <a:t>F1</a:t>
            </a:r>
            <a:endParaRPr lang="en-US" sz="1500" dirty="0"/>
          </a:p>
        </p:txBody>
      </p:sp>
      <p:sp>
        <p:nvSpPr>
          <p:cNvPr id="43" name="Text 41"/>
          <p:cNvSpPr txBox="1"/>
          <p:nvPr/>
        </p:nvSpPr>
        <p:spPr>
          <a:xfrm>
            <a:off x="8138160" y="4133088"/>
            <a:ext cx="3474720" cy="594360"/>
          </a:xfrm>
          <a:prstGeom prst="rect">
            <a:avLst/>
          </a:prstGeom>
          <a:noFill/>
          <a:ln/>
        </p:spPr>
        <p:txBody>
          <a:bodyPr wrap="square" lIns="0" tIns="0" rIns="0" bIns="0" rtlCol="0" anchor="t"/>
          <a:lstStyle/>
          <a:p>
            <a:pPr marL="0" indent="0">
              <a:buNone/>
            </a:pPr>
            <a:r>
              <a:rPr lang="en-US" sz="1400" dirty="0">
                <a:solidFill>
                  <a:schemeClr val="tx1"/>
                </a:solidFill>
              </a:rPr>
              <a:t>balance of precision and recall</a:t>
            </a:r>
            <a:endParaRPr lang="en-US" sz="1400" dirty="0"/>
          </a:p>
        </p:txBody>
      </p:sp>
      <p:sp>
        <p:nvSpPr>
          <p:cNvPr id="44" name="Text 42"/>
          <p:cNvSpPr txBox="1"/>
          <p:nvPr/>
        </p:nvSpPr>
        <p:spPr>
          <a:xfrm>
            <a:off x="6035040" y="4800600"/>
            <a:ext cx="2103120" cy="548640"/>
          </a:xfrm>
          <a:prstGeom prst="rect">
            <a:avLst/>
          </a:prstGeom>
          <a:noFill/>
          <a:ln/>
        </p:spPr>
        <p:txBody>
          <a:bodyPr wrap="square" lIns="0" tIns="0" rIns="0" bIns="0" rtlCol="0" anchor="t"/>
          <a:lstStyle/>
          <a:p>
            <a:pPr marL="0" indent="0">
              <a:buNone/>
            </a:pPr>
            <a:r>
              <a:rPr lang="en-US" sz="1500" b="1" dirty="0">
                <a:solidFill>
                  <a:schemeClr val="tx2"/>
                </a:solidFill>
              </a:rPr>
              <a:t>ROC AUC</a:t>
            </a:r>
            <a:endParaRPr lang="en-US" sz="1500" dirty="0"/>
          </a:p>
        </p:txBody>
      </p:sp>
      <p:sp>
        <p:nvSpPr>
          <p:cNvPr id="45" name="Text 43"/>
          <p:cNvSpPr txBox="1"/>
          <p:nvPr/>
        </p:nvSpPr>
        <p:spPr>
          <a:xfrm>
            <a:off x="8138160" y="4800600"/>
            <a:ext cx="3474720" cy="594360"/>
          </a:xfrm>
          <a:prstGeom prst="rect">
            <a:avLst/>
          </a:prstGeom>
          <a:noFill/>
          <a:ln/>
        </p:spPr>
        <p:txBody>
          <a:bodyPr wrap="square" lIns="0" tIns="0" rIns="0" bIns="0" rtlCol="0" anchor="t"/>
          <a:lstStyle/>
          <a:p>
            <a:pPr marL="0" indent="0">
              <a:buNone/>
            </a:pPr>
            <a:r>
              <a:rPr lang="en-US" sz="1400" dirty="0">
                <a:solidFill>
                  <a:schemeClr val="tx1"/>
                </a:solidFill>
              </a:rPr>
              <a:t>chance a random diseased patient scores above a random healthy one</a:t>
            </a:r>
            <a:endParaRPr lang="en-US" sz="1400" dirty="0"/>
          </a:p>
        </p:txBody>
      </p:sp>
      <p:sp>
        <p:nvSpPr>
          <p:cNvPr id="46" name="Text 44"/>
          <p:cNvSpPr txBox="1"/>
          <p:nvPr/>
        </p:nvSpPr>
        <p:spPr>
          <a:xfrm>
            <a:off x="6035040" y="5468112"/>
            <a:ext cx="2103120" cy="548640"/>
          </a:xfrm>
          <a:prstGeom prst="rect">
            <a:avLst/>
          </a:prstGeom>
          <a:noFill/>
          <a:ln/>
        </p:spPr>
        <p:txBody>
          <a:bodyPr wrap="square" lIns="0" tIns="0" rIns="0" bIns="0" rtlCol="0" anchor="t"/>
          <a:lstStyle/>
          <a:p>
            <a:pPr marL="0" indent="0">
              <a:buNone/>
            </a:pPr>
            <a:r>
              <a:rPr lang="en-US" sz="1500" b="1" dirty="0">
                <a:solidFill>
                  <a:schemeClr val="tx2"/>
                </a:solidFill>
              </a:rPr>
              <a:t>Brier score</a:t>
            </a:r>
            <a:endParaRPr lang="en-US" sz="1500" dirty="0"/>
          </a:p>
        </p:txBody>
      </p:sp>
      <p:sp>
        <p:nvSpPr>
          <p:cNvPr id="47" name="Text 45"/>
          <p:cNvSpPr txBox="1"/>
          <p:nvPr/>
        </p:nvSpPr>
        <p:spPr>
          <a:xfrm>
            <a:off x="8138160" y="5468112"/>
            <a:ext cx="3474720" cy="594360"/>
          </a:xfrm>
          <a:prstGeom prst="rect">
            <a:avLst/>
          </a:prstGeom>
          <a:noFill/>
          <a:ln/>
        </p:spPr>
        <p:txBody>
          <a:bodyPr wrap="square" lIns="0" tIns="0" rIns="0" bIns="0" rtlCol="0" anchor="t"/>
          <a:lstStyle/>
          <a:p>
            <a:pPr marL="0" indent="0">
              <a:buNone/>
            </a:pPr>
            <a:r>
              <a:rPr lang="en-US" sz="1400" dirty="0">
                <a:solidFill>
                  <a:schemeClr val="tx1"/>
                </a:solidFill>
              </a:rPr>
              <a:t>mean squared error of the probability (lower is better)</a:t>
            </a:r>
            <a:endParaRPr lang="en-US" sz="1400" dirty="0"/>
          </a:p>
        </p:txBody>
      </p:sp>
      <p:sp>
        <p:nvSpPr>
          <p:cNvPr id="4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4" name="Text 0"/>
          <p:cNvSpPr>
            <a:spLocks noGrp="1"/>
          </p:cNvSpPr>
          <p:nvPr>
            <p:ph type="title" idx="100" hasCustomPrompt="1"/>
          </p:nvPr>
        </p:nvSpPr>
        <p:spPr>
          <a:xfrm>
            <a:off x="548640" y="365760"/>
            <a:ext cx="914400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Bayesian network: probability over a graph</a:t>
            </a:r>
            <a:endParaRPr lang="en-US" sz="3200" dirty="0"/>
          </a:p>
        </p:txBody>
      </p:sp>
      <p:pic>
        <p:nvPicPr>
          <p:cNvPr id="5" name="bn structure" descr="Directed graph: age, sex and chol point to target; target points to the test findings; extra edges cp to exang and oldpeak to slope"/>
          <p:cNvPicPr>
            <a:picLocks noChangeAspect="1"/>
          </p:cNvPicPr>
          <p:nvPr/>
        </p:nvPicPr>
        <p:blipFill>
          <a:blip r:embed="rId3"/>
          <a:stretch>
            <a:fillRect/>
          </a:stretch>
        </p:blipFill>
        <p:spPr>
          <a:xfrm>
            <a:off x="365760" y="1664208"/>
            <a:ext cx="6949440" cy="4169664"/>
          </a:xfrm>
          <a:prstGeom prst="rect">
            <a:avLst/>
          </a:prstGeom>
        </p:spPr>
      </p:pic>
      <p:sp>
        <p:nvSpPr>
          <p:cNvPr id="6" name="bn theory card"/>
          <p:cNvSpPr/>
          <p:nvPr/>
        </p:nvSpPr>
        <p:spPr>
          <a:xfrm>
            <a:off x="7543800" y="1417320"/>
            <a:ext cx="4069080" cy="4709160"/>
          </a:xfrm>
          <a:prstGeom prst="roundRect">
            <a:avLst>
              <a:gd name="adj" fmla="val 2697"/>
            </a:avLst>
          </a:prstGeom>
          <a:solidFill>
            <a:schemeClr val="bg2"/>
          </a:solidFill>
          <a:ln/>
        </p:spPr>
        <p:txBody>
          <a:bodyPr/>
          <a:lstStyle/>
          <a:p>
            <a:endParaRPr lang="en-US"/>
          </a:p>
        </p:txBody>
      </p:sp>
      <p:sp>
        <p:nvSpPr>
          <p:cNvPr id="7" name="Text 4"/>
          <p:cNvSpPr txBox="1"/>
          <p:nvPr/>
        </p:nvSpPr>
        <p:spPr>
          <a:xfrm>
            <a:off x="7772400" y="1645920"/>
            <a:ext cx="3657600" cy="4389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 directed acyclic graph: 14 nodes, 16 edges, fixed from domain reasoning (risk factors → disease → findings)</a:t>
            </a:r>
            <a:endParaRPr lang="en-US" sz="1400" dirty="0"/>
          </a:p>
          <a:p>
            <a:pPr marL="342900" indent="-342900">
              <a:spcAft>
                <a:spcPts val="800"/>
              </a:spcAft>
              <a:buSzPct val="100000"/>
              <a:buChar char="•"/>
            </a:pPr>
            <a:r>
              <a:rPr lang="en-US" sz="1400" dirty="0">
                <a:solidFill>
                  <a:schemeClr val="tx1"/>
                </a:solidFill>
              </a:rPr>
              <a:t>Each node stores a conditional probability table P(node | parents), learned from the training fold</a:t>
            </a:r>
            <a:endParaRPr lang="en-US" sz="1400" dirty="0"/>
          </a:p>
          <a:p>
            <a:pPr marL="342900" indent="-342900">
              <a:spcAft>
                <a:spcPts val="800"/>
              </a:spcAft>
              <a:buSzPct val="100000"/>
              <a:buChar char="•"/>
            </a:pPr>
            <a:r>
              <a:rPr lang="en-US" sz="1400" dirty="0">
                <a:solidFill>
                  <a:schemeClr val="tx1"/>
                </a:solidFill>
              </a:rPr>
              <a:t>Dirichlet smoothing (pseudo-count) avoids zero probabilities; tuned</a:t>
            </a:r>
            <a:endParaRPr lang="en-US" sz="1400" dirty="0"/>
          </a:p>
          <a:p>
            <a:pPr marL="342900" indent="-342900">
              <a:spcAft>
                <a:spcPts val="800"/>
              </a:spcAft>
              <a:buSzPct val="100000"/>
              <a:buChar char="•"/>
            </a:pPr>
            <a:r>
              <a:rPr lang="en-US" sz="1400" dirty="0">
                <a:solidFill>
                  <a:schemeClr val="tx1"/>
                </a:solidFill>
              </a:rPr>
              <a:t>Inference: P(disease | 13 findings) by exact variable elimination</a:t>
            </a:r>
            <a:endParaRPr lang="en-US" sz="1400" dirty="0"/>
          </a:p>
          <a:p>
            <a:pPr marL="342900" indent="-342900">
              <a:spcAft>
                <a:spcPts val="800"/>
              </a:spcAft>
              <a:buSzPct val="100000"/>
              <a:buChar char="•"/>
            </a:pPr>
            <a:r>
              <a:rPr lang="en-US" sz="1400" dirty="0">
                <a:solidFill>
                  <a:schemeClr val="tx1"/>
                </a:solidFill>
              </a:rPr>
              <a:t>An assumption, not a causal claim</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4" name="Text 0"/>
          <p:cNvSpPr>
            <a:spLocks noGrp="1"/>
          </p:cNvSpPr>
          <p:nvPr>
            <p:ph type="title" idx="100" hasCustomPrompt="1"/>
          </p:nvPr>
        </p:nvSpPr>
        <p:spPr>
          <a:xfrm>
            <a:off x="548640" y="365760"/>
            <a:ext cx="914400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Naive Bayes: the simplest Bayesian network</a:t>
            </a:r>
            <a:endParaRPr lang="en-US" sz="3200" dirty="0"/>
          </a:p>
        </p:txBody>
      </p:sp>
      <p:sp>
        <p:nvSpPr>
          <p:cNvPr id="5" name="nb how card"/>
          <p:cNvSpPr/>
          <p:nvPr/>
        </p:nvSpPr>
        <p:spPr>
          <a:xfrm>
            <a:off x="548640" y="1417320"/>
            <a:ext cx="5486400" cy="4709160"/>
          </a:xfrm>
          <a:prstGeom prst="roundRect">
            <a:avLst>
              <a:gd name="adj" fmla="val 2330"/>
            </a:avLst>
          </a:prstGeom>
          <a:solidFill>
            <a:schemeClr val="bg2"/>
          </a:solidFill>
          <a:ln/>
        </p:spPr>
        <p:txBody>
          <a:bodyPr/>
          <a:lstStyle/>
          <a:p>
            <a:endParaRPr lang="en-US"/>
          </a:p>
        </p:txBody>
      </p:sp>
      <p:sp>
        <p:nvSpPr>
          <p:cNvPr id="6" name="Text 4"/>
          <p:cNvSpPr txBox="1"/>
          <p:nvPr/>
        </p:nvSpPr>
        <p:spPr>
          <a:xfrm>
            <a:off x="822960" y="1645920"/>
            <a:ext cx="4937760" cy="41148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How it works</a:t>
            </a:r>
            <a:endParaRPr lang="en-US" sz="2000" dirty="0"/>
          </a:p>
        </p:txBody>
      </p:sp>
      <p:sp>
        <p:nvSpPr>
          <p:cNvPr id="7" name="Text 5"/>
          <p:cNvSpPr txBox="1"/>
          <p:nvPr/>
        </p:nvSpPr>
        <p:spPr>
          <a:xfrm>
            <a:off x="822960" y="2194560"/>
            <a:ext cx="5029200" cy="37490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Bayes' rule: P(disease | x) ∝ P(disease) × Π P(xᵢ | disease)</a:t>
            </a:r>
            <a:endParaRPr lang="en-US" sz="1600" dirty="0"/>
          </a:p>
          <a:p>
            <a:pPr marL="342900" indent="-342900">
              <a:spcAft>
                <a:spcPts val="1200"/>
              </a:spcAft>
              <a:buSzPct val="100000"/>
              <a:buChar char="•"/>
            </a:pPr>
            <a:r>
              <a:rPr lang="en-US" sz="1600" dirty="0">
                <a:solidFill>
                  <a:schemeClr val="tx1"/>
                </a:solidFill>
              </a:rPr>
              <a:t>Assumes every predictor is independent of the others once the class is known</a:t>
            </a:r>
            <a:endParaRPr lang="en-US" sz="1600" dirty="0"/>
          </a:p>
          <a:p>
            <a:pPr marL="342900" indent="-342900">
              <a:spcAft>
                <a:spcPts val="1200"/>
              </a:spcAft>
              <a:buSzPct val="100000"/>
              <a:buChar char="•"/>
            </a:pPr>
            <a:r>
              <a:rPr lang="en-US" sz="1600" dirty="0">
                <a:solidFill>
                  <a:schemeClr val="tx1"/>
                </a:solidFill>
              </a:rPr>
              <a:t>Same 13 discrete inputs as the Bayesian network</a:t>
            </a:r>
            <a:endParaRPr lang="en-US" sz="1600" dirty="0"/>
          </a:p>
          <a:p>
            <a:pPr marL="342900" indent="-342900">
              <a:spcAft>
                <a:spcPts val="1200"/>
              </a:spcAft>
              <a:buSzPct val="100000"/>
              <a:buChar char="•"/>
            </a:pPr>
            <a:r>
              <a:rPr lang="en-US" sz="1600" dirty="0">
                <a:solidFill>
                  <a:schemeClr val="tx1"/>
                </a:solidFill>
              </a:rPr>
              <a:t>Laplace smoothing α tuned: α = 10 in 25 of 25 folds</a:t>
            </a:r>
            <a:endParaRPr lang="en-US" sz="1600" dirty="0"/>
          </a:p>
        </p:txBody>
      </p:sp>
      <p:sp>
        <p:nvSpPr>
          <p:cNvPr id="8" name="nb why card"/>
          <p:cNvSpPr/>
          <p:nvPr/>
        </p:nvSpPr>
        <p:spPr>
          <a:xfrm>
            <a:off x="6309360" y="1417320"/>
            <a:ext cx="5303520" cy="2194560"/>
          </a:xfrm>
          <a:prstGeom prst="roundRect">
            <a:avLst>
              <a:gd name="adj" fmla="val 5000"/>
            </a:avLst>
          </a:prstGeom>
          <a:solidFill>
            <a:schemeClr val="bg2"/>
          </a:solidFill>
          <a:ln/>
        </p:spPr>
        <p:txBody>
          <a:bodyPr/>
          <a:lstStyle/>
          <a:p>
            <a:endParaRPr lang="en-US"/>
          </a:p>
        </p:txBody>
      </p:sp>
      <p:sp>
        <p:nvSpPr>
          <p:cNvPr id="9" name="Text 7"/>
          <p:cNvSpPr txBox="1"/>
          <p:nvPr/>
        </p:nvSpPr>
        <p:spPr>
          <a:xfrm>
            <a:off x="6583680" y="1645920"/>
            <a:ext cx="4754880" cy="411480"/>
          </a:xfrm>
          <a:prstGeom prst="rect">
            <a:avLst/>
          </a:prstGeom>
          <a:noFill/>
          <a:ln/>
        </p:spPr>
        <p:txBody>
          <a:bodyPr wrap="square" lIns="0" tIns="0" rIns="0" bIns="0" rtlCol="0" anchor="t"/>
          <a:lstStyle/>
          <a:p>
            <a:pPr marL="0" indent="0">
              <a:buNone/>
            </a:pPr>
            <a:r>
              <a:rPr lang="en-US" sz="2000" b="1" dirty="0">
                <a:solidFill>
                  <a:schemeClr val="accent2"/>
                </a:solidFill>
                <a:latin typeface="Cambria" pitchFamily="34" charset="0"/>
                <a:ea typeface="Cambria" pitchFamily="34" charset="-122"/>
                <a:cs typeface="Cambria" pitchFamily="34" charset="-120"/>
              </a:rPr>
              <a:t>Why include it</a:t>
            </a:r>
            <a:endParaRPr lang="en-US" sz="2000" dirty="0"/>
          </a:p>
        </p:txBody>
      </p:sp>
      <p:sp>
        <p:nvSpPr>
          <p:cNvPr id="10" name="Text 8"/>
          <p:cNvSpPr txBox="1"/>
          <p:nvPr/>
        </p:nvSpPr>
        <p:spPr>
          <a:xfrm>
            <a:off x="6583680" y="2148840"/>
            <a:ext cx="4754880" cy="1280160"/>
          </a:xfrm>
          <a:prstGeom prst="rect">
            <a:avLst/>
          </a:prstGeom>
          <a:noFill/>
          <a:ln/>
        </p:spPr>
        <p:txBody>
          <a:bodyPr wrap="square" lIns="0" tIns="0" rIns="0" bIns="0" rtlCol="0" anchor="t"/>
          <a:lstStyle/>
          <a:p>
            <a:pPr marL="0" indent="0">
              <a:buNone/>
            </a:pPr>
            <a:r>
              <a:rPr lang="en-US" sz="1600" dirty="0">
                <a:solidFill>
                  <a:schemeClr val="tx1"/>
                </a:solidFill>
              </a:rPr>
              <a:t>A fast, standard baseline. Comparing it with the Bayesian network shows whether the extra edges help.</a:t>
            </a:r>
            <a:endParaRPr lang="en-US" sz="1600" dirty="0"/>
          </a:p>
        </p:txBody>
      </p:sp>
      <p:sp>
        <p:nvSpPr>
          <p:cNvPr id="11" name="nb result card"/>
          <p:cNvSpPr/>
          <p:nvPr/>
        </p:nvSpPr>
        <p:spPr>
          <a:xfrm>
            <a:off x="6309360" y="3886200"/>
            <a:ext cx="5303520" cy="2240280"/>
          </a:xfrm>
          <a:prstGeom prst="roundRect">
            <a:avLst>
              <a:gd name="adj" fmla="val 4898"/>
            </a:avLst>
          </a:prstGeom>
          <a:solidFill>
            <a:schemeClr val="bg2"/>
          </a:solidFill>
          <a:ln/>
        </p:spPr>
        <p:txBody>
          <a:bodyPr/>
          <a:lstStyle/>
          <a:p>
            <a:endParaRPr lang="en-US"/>
          </a:p>
        </p:txBody>
      </p:sp>
      <p:sp>
        <p:nvSpPr>
          <p:cNvPr id="12" name="Text 10"/>
          <p:cNvSpPr txBox="1"/>
          <p:nvPr/>
        </p:nvSpPr>
        <p:spPr>
          <a:xfrm>
            <a:off x="6583680" y="4114800"/>
            <a:ext cx="4754880" cy="41148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Result</a:t>
            </a:r>
            <a:endParaRPr lang="en-US" sz="2000" dirty="0"/>
          </a:p>
        </p:txBody>
      </p:sp>
      <p:sp>
        <p:nvSpPr>
          <p:cNvPr id="13" name="Text 11"/>
          <p:cNvSpPr txBox="1"/>
          <p:nvPr/>
        </p:nvSpPr>
        <p:spPr>
          <a:xfrm>
            <a:off x="6583680" y="4617720"/>
            <a:ext cx="4754880" cy="1463040"/>
          </a:xfrm>
          <a:prstGeom prst="rect">
            <a:avLst/>
          </a:prstGeom>
          <a:noFill/>
          <a:ln/>
        </p:spPr>
        <p:txBody>
          <a:bodyPr wrap="square" lIns="0" tIns="0" rIns="0" bIns="0" rtlCol="0" anchor="t"/>
          <a:lstStyle/>
          <a:p>
            <a:pPr marL="0" indent="0">
              <a:buNone/>
            </a:pPr>
            <a:r>
              <a:rPr lang="en-US" sz="1500" dirty="0">
                <a:solidFill>
                  <a:schemeClr val="tx1"/>
                </a:solidFill>
              </a:rPr>
              <a:t>ROC AUC 0.905, accuracy 82.8%. The independence assumption is broken (oldpeak/slope, cp/exang), which mainly makes its probabilities too extreme, not its ranking worse.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0"/>
          <p:cNvSpPr>
            <a:spLocks noGrp="1"/>
          </p:cNvSpPr>
          <p:nvPr>
            <p:ph type="title" idx="100" hasCustomPrompt="1"/>
          </p:nvPr>
        </p:nvSpPr>
        <p:spPr>
          <a:xfrm>
            <a:off x="548640" y="365760"/>
            <a:ext cx="914400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Logistic Regression and SVM</a:t>
            </a:r>
            <a:endParaRPr lang="en-US" sz="3200" dirty="0"/>
          </a:p>
        </p:txBody>
      </p:sp>
      <p:sp>
        <p:nvSpPr>
          <p:cNvPr id="5" name="model card 1"/>
          <p:cNvSpPr/>
          <p:nvPr/>
        </p:nvSpPr>
        <p:spPr>
          <a:xfrm>
            <a:off x="548640" y="1417320"/>
            <a:ext cx="5440680" cy="4709160"/>
          </a:xfrm>
          <a:prstGeom prst="roundRect">
            <a:avLst>
              <a:gd name="adj" fmla="val 2330"/>
            </a:avLst>
          </a:prstGeom>
          <a:solidFill>
            <a:schemeClr val="bg2"/>
          </a:solidFill>
          <a:ln/>
        </p:spPr>
        <p:txBody>
          <a:bodyPr/>
          <a:lstStyle/>
          <a:p>
            <a:endParaRPr lang="en-US"/>
          </a:p>
        </p:txBody>
      </p:sp>
      <p:sp>
        <p:nvSpPr>
          <p:cNvPr id="6" name="model 1 circle"/>
          <p:cNvSpPr/>
          <p:nvPr/>
        </p:nvSpPr>
        <p:spPr>
          <a:xfrm>
            <a:off x="822960" y="1645920"/>
            <a:ext cx="777240" cy="777240"/>
          </a:xfrm>
          <a:prstGeom prst="ellipse">
            <a:avLst/>
          </a:prstGeom>
          <a:solidFill>
            <a:srgbClr val="029E73"/>
          </a:solidFill>
          <a:ln/>
        </p:spPr>
        <p:txBody>
          <a:bodyPr/>
          <a:lstStyle/>
          <a:p>
            <a:endParaRPr lang="en-US"/>
          </a:p>
        </p:txBody>
      </p:sp>
      <p:pic>
        <p:nvPicPr>
          <p:cNvPr id="7" name="model 1 icon" descr="preencoded.png"/>
          <p:cNvPicPr>
            <a:picLocks noChangeAspect="1"/>
          </p:cNvPicPr>
          <p:nvPr/>
        </p:nvPicPr>
        <p:blipFill>
          <a:blip r:embed="rId3"/>
          <a:stretch>
            <a:fillRect/>
          </a:stretch>
        </p:blipFill>
        <p:spPr>
          <a:xfrm>
            <a:off x="1017270" y="1840230"/>
            <a:ext cx="388620" cy="388620"/>
          </a:xfrm>
          <a:prstGeom prst="rect">
            <a:avLst/>
          </a:prstGeom>
        </p:spPr>
      </p:pic>
      <p:sp>
        <p:nvSpPr>
          <p:cNvPr id="8" name="Text 5"/>
          <p:cNvSpPr txBox="1"/>
          <p:nvPr/>
        </p:nvSpPr>
        <p:spPr>
          <a:xfrm>
            <a:off x="1783080" y="1783080"/>
            <a:ext cx="4023360" cy="502920"/>
          </a:xfrm>
          <a:prstGeom prst="rect">
            <a:avLst/>
          </a:prstGeom>
          <a:noFill/>
          <a:ln/>
        </p:spPr>
        <p:txBody>
          <a:bodyPr wrap="square" lIns="0" tIns="0" rIns="0" bIns="0" rtlCol="0" anchor="t"/>
          <a:lstStyle/>
          <a:p>
            <a:pPr marL="0" indent="0">
              <a:buNone/>
            </a:pPr>
            <a:r>
              <a:rPr lang="en-US" sz="2100" b="1" dirty="0">
                <a:solidFill>
                  <a:schemeClr val="tx2"/>
                </a:solidFill>
                <a:latin typeface="Cambria" pitchFamily="34" charset="0"/>
                <a:ea typeface="Cambria" pitchFamily="34" charset="-122"/>
                <a:cs typeface="Cambria" pitchFamily="34" charset="-120"/>
              </a:rPr>
              <a:t>Logistic Regression</a:t>
            </a:r>
            <a:endParaRPr lang="en-US" sz="2100" dirty="0"/>
          </a:p>
        </p:txBody>
      </p:sp>
      <p:sp>
        <p:nvSpPr>
          <p:cNvPr id="9" name="Text 6"/>
          <p:cNvSpPr txBox="1"/>
          <p:nvPr/>
        </p:nvSpPr>
        <p:spPr>
          <a:xfrm>
            <a:off x="868680" y="2697480"/>
            <a:ext cx="4892040" cy="24688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Weighted sum of the 20 inputs → sigmoid → P(disease)</a:t>
            </a:r>
            <a:endParaRPr lang="en-US" sz="1500" dirty="0"/>
          </a:p>
          <a:p>
            <a:pPr marL="342900" indent="-342900">
              <a:spcAft>
                <a:spcPts val="1000"/>
              </a:spcAft>
              <a:buSzPct val="100000"/>
              <a:buChar char="•"/>
            </a:pPr>
            <a:r>
              <a:rPr lang="en-US" sz="1500" dirty="0">
                <a:solidFill>
                  <a:schemeClr val="tx1"/>
                </a:solidFill>
              </a:rPr>
              <a:t>L2 penalty keeps the weights small; strength 1/C tuned over 0.01, 0.1, 1, 10</a:t>
            </a:r>
            <a:endParaRPr lang="en-US" sz="1500" dirty="0"/>
          </a:p>
          <a:p>
            <a:pPr marL="342900" indent="-342900">
              <a:spcAft>
                <a:spcPts val="1000"/>
              </a:spcAft>
              <a:buSzPct val="100000"/>
              <a:buChar char="•"/>
            </a:pPr>
            <a:r>
              <a:rPr lang="en-US" sz="1500" dirty="0">
                <a:solidFill>
                  <a:schemeClr val="tx1"/>
                </a:solidFill>
              </a:rPr>
              <a:t>Most chosen: C = 1 (14/25 folds)</a:t>
            </a:r>
            <a:endParaRPr lang="en-US" sz="1500" dirty="0"/>
          </a:p>
          <a:p>
            <a:pPr marL="342900" indent="-342900">
              <a:spcAft>
                <a:spcPts val="1000"/>
              </a:spcAft>
              <a:buSzPct val="100000"/>
              <a:buChar char="•"/>
            </a:pPr>
            <a:r>
              <a:rPr lang="en-US" sz="1500" dirty="0">
                <a:solidFill>
                  <a:schemeClr val="tx1"/>
                </a:solidFill>
              </a:rPr>
              <a:t>Interpretable: each weight shows a direction of effect</a:t>
            </a:r>
            <a:endParaRPr lang="en-US" sz="1500" dirty="0"/>
          </a:p>
        </p:txBody>
      </p:sp>
      <p:sp>
        <p:nvSpPr>
          <p:cNvPr id="10" name="Text 7"/>
          <p:cNvSpPr txBox="1"/>
          <p:nvPr/>
        </p:nvSpPr>
        <p:spPr>
          <a:xfrm>
            <a:off x="868680" y="5440680"/>
            <a:ext cx="4846320" cy="457200"/>
          </a:xfrm>
          <a:prstGeom prst="rect">
            <a:avLst/>
          </a:prstGeom>
          <a:noFill/>
          <a:ln/>
        </p:spPr>
        <p:txBody>
          <a:bodyPr wrap="square" lIns="0" tIns="0" rIns="0" bIns="0" rtlCol="0" anchor="t"/>
          <a:lstStyle/>
          <a:p>
            <a:pPr marL="0" indent="0">
              <a:buNone/>
            </a:pPr>
            <a:r>
              <a:rPr lang="en-US" sz="1800" b="1" dirty="0">
                <a:solidFill>
                  <a:schemeClr val="tx2"/>
                </a:solidFill>
              </a:rPr>
              <a:t>ROC AUC 0.904</a:t>
            </a:r>
            <a:r>
              <a:rPr lang="en-US" sz="1800" dirty="0">
                <a:solidFill>
                  <a:schemeClr val="tx1"/>
                </a:solidFill>
              </a:rPr>
              <a:t>    accuracy 84.8%</a:t>
            </a:r>
            <a:endParaRPr lang="en-US" sz="1800" dirty="0"/>
          </a:p>
        </p:txBody>
      </p:sp>
      <p:sp>
        <p:nvSpPr>
          <p:cNvPr id="11" name="model card 2"/>
          <p:cNvSpPr/>
          <p:nvPr/>
        </p:nvSpPr>
        <p:spPr>
          <a:xfrm>
            <a:off x="6172200" y="1417320"/>
            <a:ext cx="5440680" cy="4709160"/>
          </a:xfrm>
          <a:prstGeom prst="roundRect">
            <a:avLst>
              <a:gd name="adj" fmla="val 2330"/>
            </a:avLst>
          </a:prstGeom>
          <a:solidFill>
            <a:schemeClr val="bg2"/>
          </a:solidFill>
          <a:ln/>
        </p:spPr>
        <p:txBody>
          <a:bodyPr/>
          <a:lstStyle/>
          <a:p>
            <a:endParaRPr lang="en-US"/>
          </a:p>
        </p:txBody>
      </p:sp>
      <p:sp>
        <p:nvSpPr>
          <p:cNvPr id="12" name="model 2 circle"/>
          <p:cNvSpPr/>
          <p:nvPr/>
        </p:nvSpPr>
        <p:spPr>
          <a:xfrm>
            <a:off x="6446520" y="1645920"/>
            <a:ext cx="777240" cy="777240"/>
          </a:xfrm>
          <a:prstGeom prst="ellipse">
            <a:avLst/>
          </a:prstGeom>
          <a:solidFill>
            <a:srgbClr val="D55E00"/>
          </a:solidFill>
          <a:ln/>
        </p:spPr>
        <p:txBody>
          <a:bodyPr/>
          <a:lstStyle/>
          <a:p>
            <a:endParaRPr lang="en-US"/>
          </a:p>
        </p:txBody>
      </p:sp>
      <p:pic>
        <p:nvPicPr>
          <p:cNvPr id="13" name="model 2 icon" descr="preencoded.png"/>
          <p:cNvPicPr>
            <a:picLocks noChangeAspect="1"/>
          </p:cNvPicPr>
          <p:nvPr/>
        </p:nvPicPr>
        <p:blipFill>
          <a:blip r:embed="rId4"/>
          <a:stretch>
            <a:fillRect/>
          </a:stretch>
        </p:blipFill>
        <p:spPr>
          <a:xfrm>
            <a:off x="6640830" y="1840230"/>
            <a:ext cx="388620" cy="388620"/>
          </a:xfrm>
          <a:prstGeom prst="rect">
            <a:avLst/>
          </a:prstGeom>
        </p:spPr>
      </p:pic>
      <p:sp>
        <p:nvSpPr>
          <p:cNvPr id="14" name="Text 10"/>
          <p:cNvSpPr txBox="1"/>
          <p:nvPr/>
        </p:nvSpPr>
        <p:spPr>
          <a:xfrm>
            <a:off x="7406640" y="1783080"/>
            <a:ext cx="4023360" cy="502920"/>
          </a:xfrm>
          <a:prstGeom prst="rect">
            <a:avLst/>
          </a:prstGeom>
          <a:noFill/>
          <a:ln/>
        </p:spPr>
        <p:txBody>
          <a:bodyPr wrap="square" lIns="0" tIns="0" rIns="0" bIns="0" rtlCol="0" anchor="t"/>
          <a:lstStyle/>
          <a:p>
            <a:pPr marL="0" indent="0">
              <a:buNone/>
            </a:pPr>
            <a:r>
              <a:rPr lang="en-US" sz="2100" b="1" dirty="0">
                <a:solidFill>
                  <a:schemeClr val="tx2"/>
                </a:solidFill>
                <a:latin typeface="Cambria" pitchFamily="34" charset="0"/>
                <a:ea typeface="Cambria" pitchFamily="34" charset="-122"/>
                <a:cs typeface="Cambria" pitchFamily="34" charset="-120"/>
              </a:rPr>
              <a:t>Support vector machine</a:t>
            </a:r>
            <a:endParaRPr lang="en-US" sz="2100" dirty="0"/>
          </a:p>
        </p:txBody>
      </p:sp>
      <p:sp>
        <p:nvSpPr>
          <p:cNvPr id="15" name="Text 11"/>
          <p:cNvSpPr txBox="1"/>
          <p:nvPr/>
        </p:nvSpPr>
        <p:spPr>
          <a:xfrm>
            <a:off x="6492240" y="2697480"/>
            <a:ext cx="4892040" cy="24688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Finds the boundary with the widest margin between classes</a:t>
            </a:r>
            <a:endParaRPr lang="en-US" sz="1500" dirty="0"/>
          </a:p>
          <a:p>
            <a:pPr marL="342900" indent="-342900">
              <a:spcAft>
                <a:spcPts val="1000"/>
              </a:spcAft>
              <a:buSzPct val="100000"/>
              <a:buChar char="•"/>
            </a:pPr>
            <a:r>
              <a:rPr lang="en-US" sz="1500" dirty="0">
                <a:solidFill>
                  <a:schemeClr val="tx1"/>
                </a:solidFill>
              </a:rPr>
              <a:t>RBF kernel lets the boundary curve; C and gamma tuned</a:t>
            </a:r>
            <a:endParaRPr lang="en-US" sz="1500" dirty="0"/>
          </a:p>
          <a:p>
            <a:pPr marL="342900" indent="-342900">
              <a:spcAft>
                <a:spcPts val="1000"/>
              </a:spcAft>
              <a:buSzPct val="100000"/>
              <a:buChar char="•"/>
            </a:pPr>
            <a:r>
              <a:rPr lang="en-US" sz="1500" dirty="0">
                <a:solidFill>
                  <a:schemeClr val="tx1"/>
                </a:solidFill>
              </a:rPr>
              <a:t>Most chosen: C = 1, gamma = 0.01 (23/25 folds)</a:t>
            </a:r>
            <a:endParaRPr lang="en-US" sz="1500" dirty="0"/>
          </a:p>
          <a:p>
            <a:pPr marL="342900" indent="-342900">
              <a:spcAft>
                <a:spcPts val="1000"/>
              </a:spcAft>
              <a:buSzPct val="100000"/>
              <a:buChar char="•"/>
            </a:pPr>
            <a:r>
              <a:rPr lang="en-US" sz="1500" dirty="0">
                <a:solidFill>
                  <a:schemeClr val="tx1"/>
                </a:solidFill>
              </a:rPr>
              <a:t>Platt scaling turns its scores into probabilities</a:t>
            </a:r>
            <a:endParaRPr lang="en-US" sz="1500" dirty="0"/>
          </a:p>
        </p:txBody>
      </p:sp>
      <p:sp>
        <p:nvSpPr>
          <p:cNvPr id="16" name="Text 12"/>
          <p:cNvSpPr txBox="1"/>
          <p:nvPr/>
        </p:nvSpPr>
        <p:spPr>
          <a:xfrm>
            <a:off x="6492240" y="5440680"/>
            <a:ext cx="4846320" cy="457200"/>
          </a:xfrm>
          <a:prstGeom prst="rect">
            <a:avLst/>
          </a:prstGeom>
          <a:noFill/>
          <a:ln/>
        </p:spPr>
        <p:txBody>
          <a:bodyPr wrap="square" lIns="0" tIns="0" rIns="0" bIns="0" rtlCol="0" anchor="t"/>
          <a:lstStyle/>
          <a:p>
            <a:pPr marL="0" indent="0">
              <a:buNone/>
            </a:pPr>
            <a:r>
              <a:rPr lang="en-US" sz="1800" b="1" dirty="0">
                <a:solidFill>
                  <a:schemeClr val="tx2"/>
                </a:solidFill>
              </a:rPr>
              <a:t>ROC AUC 0.907</a:t>
            </a:r>
            <a:r>
              <a:rPr lang="en-US" sz="1800" dirty="0">
                <a:solidFill>
                  <a:schemeClr val="tx1"/>
                </a:solidFill>
              </a:rPr>
              <a:t>    accuracy 84.9%</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4" name="Text 0"/>
          <p:cNvSpPr>
            <a:spLocks noGrp="1"/>
          </p:cNvSpPr>
          <p:nvPr>
            <p:ph type="title" idx="100" hasCustomPrompt="1"/>
          </p:nvPr>
        </p:nvSpPr>
        <p:spPr>
          <a:xfrm>
            <a:off x="548640" y="365760"/>
            <a:ext cx="914400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Random Forest and Gradient Boosting</a:t>
            </a:r>
            <a:endParaRPr lang="en-US" sz="3200" dirty="0"/>
          </a:p>
        </p:txBody>
      </p:sp>
      <p:sp>
        <p:nvSpPr>
          <p:cNvPr id="5" name="ensemble card 1"/>
          <p:cNvSpPr/>
          <p:nvPr/>
        </p:nvSpPr>
        <p:spPr>
          <a:xfrm>
            <a:off x="548640" y="1417320"/>
            <a:ext cx="5440680" cy="4709160"/>
          </a:xfrm>
          <a:prstGeom prst="roundRect">
            <a:avLst>
              <a:gd name="adj" fmla="val 2330"/>
            </a:avLst>
          </a:prstGeom>
          <a:solidFill>
            <a:schemeClr val="bg2"/>
          </a:solidFill>
          <a:ln/>
        </p:spPr>
        <p:txBody>
          <a:bodyPr/>
          <a:lstStyle/>
          <a:p>
            <a:endParaRPr lang="en-US"/>
          </a:p>
        </p:txBody>
      </p:sp>
      <p:sp>
        <p:nvSpPr>
          <p:cNvPr id="6" name="ensemble 1 circle"/>
          <p:cNvSpPr/>
          <p:nvPr/>
        </p:nvSpPr>
        <p:spPr>
          <a:xfrm>
            <a:off x="822960" y="1645920"/>
            <a:ext cx="777240" cy="777240"/>
          </a:xfrm>
          <a:prstGeom prst="ellipse">
            <a:avLst/>
          </a:prstGeom>
          <a:solidFill>
            <a:srgbClr val="CC78BC"/>
          </a:solidFill>
          <a:ln/>
        </p:spPr>
        <p:txBody>
          <a:bodyPr/>
          <a:lstStyle/>
          <a:p>
            <a:endParaRPr lang="en-US"/>
          </a:p>
        </p:txBody>
      </p:sp>
      <p:pic>
        <p:nvPicPr>
          <p:cNvPr id="7" name="ensemble 1 icon" descr="preencoded.png"/>
          <p:cNvPicPr>
            <a:picLocks noChangeAspect="1"/>
          </p:cNvPicPr>
          <p:nvPr/>
        </p:nvPicPr>
        <p:blipFill>
          <a:blip r:embed="rId3"/>
          <a:stretch>
            <a:fillRect/>
          </a:stretch>
        </p:blipFill>
        <p:spPr>
          <a:xfrm>
            <a:off x="1017270" y="1840230"/>
            <a:ext cx="388620" cy="388620"/>
          </a:xfrm>
          <a:prstGeom prst="rect">
            <a:avLst/>
          </a:prstGeom>
        </p:spPr>
      </p:pic>
      <p:sp>
        <p:nvSpPr>
          <p:cNvPr id="8" name="Text 5"/>
          <p:cNvSpPr txBox="1"/>
          <p:nvPr/>
        </p:nvSpPr>
        <p:spPr>
          <a:xfrm>
            <a:off x="1783080" y="1783080"/>
            <a:ext cx="4023360" cy="502920"/>
          </a:xfrm>
          <a:prstGeom prst="rect">
            <a:avLst/>
          </a:prstGeom>
          <a:noFill/>
          <a:ln/>
        </p:spPr>
        <p:txBody>
          <a:bodyPr wrap="square" lIns="0" tIns="0" rIns="0" bIns="0" rtlCol="0" anchor="t"/>
          <a:lstStyle/>
          <a:p>
            <a:pPr marL="0" indent="0">
              <a:buNone/>
            </a:pPr>
            <a:r>
              <a:rPr lang="en-US" sz="2100" b="1" dirty="0">
                <a:solidFill>
                  <a:schemeClr val="tx2"/>
                </a:solidFill>
                <a:latin typeface="Cambria" pitchFamily="34" charset="0"/>
                <a:ea typeface="Cambria" pitchFamily="34" charset="-122"/>
                <a:cs typeface="Cambria" pitchFamily="34" charset="-120"/>
              </a:rPr>
              <a:t>Random Forest</a:t>
            </a:r>
            <a:endParaRPr lang="en-US" sz="2100" dirty="0"/>
          </a:p>
        </p:txBody>
      </p:sp>
      <p:sp>
        <p:nvSpPr>
          <p:cNvPr id="9" name="Text 6"/>
          <p:cNvSpPr txBox="1"/>
          <p:nvPr/>
        </p:nvSpPr>
        <p:spPr>
          <a:xfrm>
            <a:off x="868680" y="2697480"/>
            <a:ext cx="4892040" cy="25603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Many decision trees, each on a bootstrap sample with random feature subsets</a:t>
            </a:r>
            <a:endParaRPr lang="en-US" sz="1500" dirty="0"/>
          </a:p>
          <a:p>
            <a:pPr marL="342900" indent="-342900">
              <a:spcAft>
                <a:spcPts val="1000"/>
              </a:spcAft>
              <a:buSzPct val="100000"/>
              <a:buChar char="•"/>
            </a:pPr>
            <a:r>
              <a:rPr lang="en-US" sz="1500" dirty="0">
                <a:solidFill>
                  <a:schemeClr val="tx1"/>
                </a:solidFill>
              </a:rPr>
              <a:t>Prediction = average of the trees' votes (bagging reduces variance)</a:t>
            </a:r>
            <a:endParaRPr lang="en-US" sz="1500" dirty="0"/>
          </a:p>
          <a:p>
            <a:pPr marL="342900" indent="-342900">
              <a:spcAft>
                <a:spcPts val="1000"/>
              </a:spcAft>
              <a:buSzPct val="100000"/>
              <a:buChar char="•"/>
            </a:pPr>
            <a:r>
              <a:rPr lang="en-US" sz="1500" dirty="0">
                <a:solidFill>
                  <a:schemeClr val="tx1"/>
                </a:solidFill>
              </a:rPr>
              <a:t>Tuned: number of trees and depth</a:t>
            </a:r>
            <a:endParaRPr lang="en-US" sz="1500" dirty="0"/>
          </a:p>
          <a:p>
            <a:pPr marL="342900" indent="-342900">
              <a:spcAft>
                <a:spcPts val="1000"/>
              </a:spcAft>
              <a:buSzPct val="100000"/>
              <a:buChar char="•"/>
            </a:pPr>
            <a:r>
              <a:rPr lang="en-US" sz="1500" dirty="0">
                <a:solidFill>
                  <a:schemeClr val="tx1"/>
                </a:solidFill>
              </a:rPr>
              <a:t>Most chosen: n_estimators = 200, max_depth = 5 (8/25)</a:t>
            </a:r>
            <a:endParaRPr lang="en-US" sz="1500" dirty="0"/>
          </a:p>
        </p:txBody>
      </p:sp>
      <p:sp>
        <p:nvSpPr>
          <p:cNvPr id="10" name="Text 7"/>
          <p:cNvSpPr txBox="1"/>
          <p:nvPr/>
        </p:nvSpPr>
        <p:spPr>
          <a:xfrm>
            <a:off x="868680" y="5440680"/>
            <a:ext cx="4846320" cy="457200"/>
          </a:xfrm>
          <a:prstGeom prst="rect">
            <a:avLst/>
          </a:prstGeom>
          <a:noFill/>
          <a:ln/>
        </p:spPr>
        <p:txBody>
          <a:bodyPr wrap="square" lIns="0" tIns="0" rIns="0" bIns="0" rtlCol="0" anchor="t"/>
          <a:lstStyle/>
          <a:p>
            <a:pPr marL="0" indent="0">
              <a:buNone/>
            </a:pPr>
            <a:r>
              <a:rPr lang="en-US" sz="1800" b="1" dirty="0">
                <a:solidFill>
                  <a:schemeClr val="tx2"/>
                </a:solidFill>
              </a:rPr>
              <a:t>ROC AUC 0.903</a:t>
            </a:r>
            <a:r>
              <a:rPr lang="en-US" sz="1800" dirty="0">
                <a:solidFill>
                  <a:schemeClr val="tx1"/>
                </a:solidFill>
              </a:rPr>
              <a:t>    accuracy 83.4%</a:t>
            </a:r>
            <a:endParaRPr lang="en-US" sz="1800" dirty="0"/>
          </a:p>
        </p:txBody>
      </p:sp>
      <p:sp>
        <p:nvSpPr>
          <p:cNvPr id="11" name="ensemble card 2"/>
          <p:cNvSpPr/>
          <p:nvPr/>
        </p:nvSpPr>
        <p:spPr>
          <a:xfrm>
            <a:off x="6172200" y="1417320"/>
            <a:ext cx="5440680" cy="4709160"/>
          </a:xfrm>
          <a:prstGeom prst="roundRect">
            <a:avLst>
              <a:gd name="adj" fmla="val 2330"/>
            </a:avLst>
          </a:prstGeom>
          <a:solidFill>
            <a:schemeClr val="bg2"/>
          </a:solidFill>
          <a:ln/>
        </p:spPr>
        <p:txBody>
          <a:bodyPr/>
          <a:lstStyle/>
          <a:p>
            <a:endParaRPr lang="en-US"/>
          </a:p>
        </p:txBody>
      </p:sp>
      <p:sp>
        <p:nvSpPr>
          <p:cNvPr id="12" name="ensemble 2 circle"/>
          <p:cNvSpPr/>
          <p:nvPr/>
        </p:nvSpPr>
        <p:spPr>
          <a:xfrm>
            <a:off x="6446520" y="1645920"/>
            <a:ext cx="777240" cy="777240"/>
          </a:xfrm>
          <a:prstGeom prst="ellipse">
            <a:avLst/>
          </a:prstGeom>
          <a:solidFill>
            <a:srgbClr val="CA9161"/>
          </a:solidFill>
          <a:ln/>
        </p:spPr>
        <p:txBody>
          <a:bodyPr/>
          <a:lstStyle/>
          <a:p>
            <a:endParaRPr lang="en-US"/>
          </a:p>
        </p:txBody>
      </p:sp>
      <p:pic>
        <p:nvPicPr>
          <p:cNvPr id="13" name="ensemble 2 icon" descr="preencoded.png"/>
          <p:cNvPicPr>
            <a:picLocks noChangeAspect="1"/>
          </p:cNvPicPr>
          <p:nvPr/>
        </p:nvPicPr>
        <p:blipFill>
          <a:blip r:embed="rId4"/>
          <a:stretch>
            <a:fillRect/>
          </a:stretch>
        </p:blipFill>
        <p:spPr>
          <a:xfrm>
            <a:off x="6640830" y="1840230"/>
            <a:ext cx="388620" cy="388620"/>
          </a:xfrm>
          <a:prstGeom prst="rect">
            <a:avLst/>
          </a:prstGeom>
        </p:spPr>
      </p:pic>
      <p:sp>
        <p:nvSpPr>
          <p:cNvPr id="14" name="Text 10"/>
          <p:cNvSpPr txBox="1"/>
          <p:nvPr/>
        </p:nvSpPr>
        <p:spPr>
          <a:xfrm>
            <a:off x="7406640" y="1783080"/>
            <a:ext cx="4023360" cy="502920"/>
          </a:xfrm>
          <a:prstGeom prst="rect">
            <a:avLst/>
          </a:prstGeom>
          <a:noFill/>
          <a:ln/>
        </p:spPr>
        <p:txBody>
          <a:bodyPr wrap="square" lIns="0" tIns="0" rIns="0" bIns="0" rtlCol="0" anchor="t"/>
          <a:lstStyle/>
          <a:p>
            <a:pPr marL="0" indent="0">
              <a:buNone/>
            </a:pPr>
            <a:r>
              <a:rPr lang="en-US" sz="2100" b="1" dirty="0">
                <a:solidFill>
                  <a:schemeClr val="tx2"/>
                </a:solidFill>
                <a:latin typeface="Cambria" pitchFamily="34" charset="0"/>
                <a:ea typeface="Cambria" pitchFamily="34" charset="-122"/>
                <a:cs typeface="Cambria" pitchFamily="34" charset="-120"/>
              </a:rPr>
              <a:t>Gradient Boosting</a:t>
            </a:r>
            <a:endParaRPr lang="en-US" sz="2100" dirty="0"/>
          </a:p>
        </p:txBody>
      </p:sp>
      <p:sp>
        <p:nvSpPr>
          <p:cNvPr id="15" name="Text 11"/>
          <p:cNvSpPr txBox="1"/>
          <p:nvPr/>
        </p:nvSpPr>
        <p:spPr>
          <a:xfrm>
            <a:off x="6492240" y="2697480"/>
            <a:ext cx="4892040" cy="25603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Small trees added one at a time; each fixes the errors of the ones before</a:t>
            </a:r>
            <a:endParaRPr lang="en-US" sz="1500" dirty="0"/>
          </a:p>
          <a:p>
            <a:pPr marL="342900" indent="-342900">
              <a:spcAft>
                <a:spcPts val="1000"/>
              </a:spcAft>
              <a:buSzPct val="100000"/>
              <a:buChar char="•"/>
            </a:pPr>
            <a:r>
              <a:rPr lang="en-US" sz="1500" dirty="0">
                <a:solidFill>
                  <a:schemeClr val="tx1"/>
                </a:solidFill>
              </a:rPr>
              <a:t>Learning rate shrinks each step (boosting reduces bias)</a:t>
            </a:r>
            <a:endParaRPr lang="en-US" sz="1500" dirty="0"/>
          </a:p>
          <a:p>
            <a:pPr marL="342900" indent="-342900">
              <a:spcAft>
                <a:spcPts val="1000"/>
              </a:spcAft>
              <a:buSzPct val="100000"/>
              <a:buChar char="•"/>
            </a:pPr>
            <a:r>
              <a:rPr lang="en-US" sz="1500" dirty="0">
                <a:solidFill>
                  <a:schemeClr val="tx1"/>
                </a:solidFill>
              </a:rPr>
              <a:t>Tuned: learning rate, number of trees, depth</a:t>
            </a:r>
            <a:endParaRPr lang="en-US" sz="1500" dirty="0"/>
          </a:p>
          <a:p>
            <a:pPr marL="342900" indent="-342900">
              <a:spcAft>
                <a:spcPts val="1000"/>
              </a:spcAft>
              <a:buSzPct val="100000"/>
              <a:buChar char="•"/>
            </a:pPr>
            <a:r>
              <a:rPr lang="en-US" sz="1500" dirty="0">
                <a:solidFill>
                  <a:schemeClr val="tx1"/>
                </a:solidFill>
              </a:rPr>
              <a:t>Most chosen: learning_rate = 0.05, n_estimators = 100, max_depth = 2 (20/25)</a:t>
            </a:r>
            <a:endParaRPr lang="en-US" sz="1500" dirty="0"/>
          </a:p>
        </p:txBody>
      </p:sp>
      <p:sp>
        <p:nvSpPr>
          <p:cNvPr id="16" name="Text 12"/>
          <p:cNvSpPr txBox="1"/>
          <p:nvPr/>
        </p:nvSpPr>
        <p:spPr>
          <a:xfrm>
            <a:off x="6492240" y="5440680"/>
            <a:ext cx="4846320" cy="457200"/>
          </a:xfrm>
          <a:prstGeom prst="rect">
            <a:avLst/>
          </a:prstGeom>
          <a:noFill/>
          <a:ln/>
        </p:spPr>
        <p:txBody>
          <a:bodyPr wrap="square" lIns="0" tIns="0" rIns="0" bIns="0" rtlCol="0" anchor="t"/>
          <a:lstStyle/>
          <a:p>
            <a:pPr marL="0" indent="0">
              <a:buNone/>
            </a:pPr>
            <a:r>
              <a:rPr lang="en-US" sz="1800" b="1" dirty="0">
                <a:solidFill>
                  <a:schemeClr val="tx2"/>
                </a:solidFill>
              </a:rPr>
              <a:t>ROC AUC 0.890</a:t>
            </a:r>
            <a:r>
              <a:rPr lang="en-US" sz="1800" dirty="0">
                <a:solidFill>
                  <a:schemeClr val="tx1"/>
                </a:solidFill>
              </a:rPr>
              <a:t>    accuracy 81.8%</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4" name="Text 0"/>
          <p:cNvSpPr>
            <a:spLocks noGrp="1"/>
          </p:cNvSpPr>
          <p:nvPr>
            <p:ph type="title" idx="100" hasCustomPrompt="1"/>
          </p:nvPr>
        </p:nvSpPr>
        <p:spPr>
          <a:xfrm>
            <a:off x="548640" y="365760"/>
            <a:ext cx="914400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Hyper-parameter tuning with nested CV</a:t>
            </a:r>
            <a:endParaRPr lang="en-US" sz="3200" dirty="0"/>
          </a:p>
        </p:txBody>
      </p:sp>
      <p:sp>
        <p:nvSpPr>
          <p:cNvPr id="5" name="nested card"/>
          <p:cNvSpPr/>
          <p:nvPr/>
        </p:nvSpPr>
        <p:spPr>
          <a:xfrm>
            <a:off x="548640" y="1417320"/>
            <a:ext cx="4846320" cy="4709160"/>
          </a:xfrm>
          <a:prstGeom prst="roundRect">
            <a:avLst>
              <a:gd name="adj" fmla="val 2330"/>
            </a:avLst>
          </a:prstGeom>
          <a:solidFill>
            <a:schemeClr val="tx2"/>
          </a:solidFill>
          <a:ln/>
        </p:spPr>
        <p:txBody>
          <a:bodyPr/>
          <a:lstStyle/>
          <a:p>
            <a:endParaRPr lang="en-US"/>
          </a:p>
        </p:txBody>
      </p:sp>
      <p:sp>
        <p:nvSpPr>
          <p:cNvPr id="6" name="Text 4"/>
          <p:cNvSpPr txBox="1"/>
          <p:nvPr/>
        </p:nvSpPr>
        <p:spPr>
          <a:xfrm>
            <a:off x="822960" y="1645920"/>
            <a:ext cx="4389120" cy="411480"/>
          </a:xfrm>
          <a:prstGeom prst="rect">
            <a:avLst/>
          </a:prstGeom>
          <a:noFill/>
          <a:ln/>
        </p:spPr>
        <p:txBody>
          <a:bodyPr wrap="square" lIns="0" tIns="0" rIns="0" bIns="0" rtlCol="0" anchor="t"/>
          <a:lstStyle/>
          <a:p>
            <a:pPr marL="0" indent="0">
              <a:buNone/>
            </a:pPr>
            <a:r>
              <a:rPr lang="en-US" sz="1700" b="1" dirty="0">
                <a:solidFill>
                  <a:schemeClr val="bg1"/>
                </a:solidFill>
              </a:rPr>
              <a:t>Inside every one of the 25 training folds</a:t>
            </a:r>
            <a:endParaRPr lang="en-US" sz="1700" dirty="0"/>
          </a:p>
        </p:txBody>
      </p:sp>
      <p:sp>
        <p:nvSpPr>
          <p:cNvPr id="7" name="nested step 1"/>
          <p:cNvSpPr/>
          <p:nvPr/>
        </p:nvSpPr>
        <p:spPr>
          <a:xfrm>
            <a:off x="822960" y="2240280"/>
            <a:ext cx="457200" cy="457200"/>
          </a:xfrm>
          <a:prstGeom prst="ellipse">
            <a:avLst/>
          </a:prstGeom>
          <a:solidFill>
            <a:schemeClr val="accent4"/>
          </a:solidFill>
          <a:ln/>
        </p:spPr>
        <p:txBody>
          <a:bodyPr/>
          <a:lstStyle/>
          <a:p>
            <a:endParaRPr lang="en-US"/>
          </a:p>
        </p:txBody>
      </p:sp>
      <p:sp>
        <p:nvSpPr>
          <p:cNvPr id="8" name="Text 6"/>
          <p:cNvSpPr txBox="1"/>
          <p:nvPr/>
        </p:nvSpPr>
        <p:spPr>
          <a:xfrm>
            <a:off x="822960" y="224028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9" name="Text 7"/>
          <p:cNvSpPr txBox="1"/>
          <p:nvPr/>
        </p:nvSpPr>
        <p:spPr>
          <a:xfrm>
            <a:off x="1463040" y="2258568"/>
            <a:ext cx="3749040" cy="548640"/>
          </a:xfrm>
          <a:prstGeom prst="rect">
            <a:avLst/>
          </a:prstGeom>
          <a:noFill/>
          <a:ln/>
        </p:spPr>
        <p:txBody>
          <a:bodyPr wrap="square" lIns="0" tIns="0" rIns="0" bIns="0" rtlCol="0" anchor="ctr"/>
          <a:lstStyle/>
          <a:p>
            <a:pPr marL="0" indent="0">
              <a:buNone/>
            </a:pPr>
            <a:r>
              <a:rPr lang="en-US" sz="1500" dirty="0">
                <a:solidFill>
                  <a:schemeClr val="bg1"/>
                </a:solidFill>
              </a:rPr>
              <a:t>Split the training fold again into 5 inner folds</a:t>
            </a:r>
            <a:endParaRPr lang="en-US" sz="1500" dirty="0"/>
          </a:p>
        </p:txBody>
      </p:sp>
      <p:sp>
        <p:nvSpPr>
          <p:cNvPr id="10" name="nested step 2"/>
          <p:cNvSpPr/>
          <p:nvPr/>
        </p:nvSpPr>
        <p:spPr>
          <a:xfrm>
            <a:off x="822960" y="2999232"/>
            <a:ext cx="457200" cy="457200"/>
          </a:xfrm>
          <a:prstGeom prst="ellipse">
            <a:avLst/>
          </a:prstGeom>
          <a:solidFill>
            <a:schemeClr val="accent4"/>
          </a:solidFill>
          <a:ln/>
        </p:spPr>
        <p:txBody>
          <a:bodyPr/>
          <a:lstStyle/>
          <a:p>
            <a:endParaRPr lang="en-US"/>
          </a:p>
        </p:txBody>
      </p:sp>
      <p:sp>
        <p:nvSpPr>
          <p:cNvPr id="11" name="Text 9"/>
          <p:cNvSpPr txBox="1"/>
          <p:nvPr/>
        </p:nvSpPr>
        <p:spPr>
          <a:xfrm>
            <a:off x="822960" y="2999232"/>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2" name="Text 10"/>
          <p:cNvSpPr txBox="1"/>
          <p:nvPr/>
        </p:nvSpPr>
        <p:spPr>
          <a:xfrm>
            <a:off x="1463040" y="3017520"/>
            <a:ext cx="3749040" cy="548640"/>
          </a:xfrm>
          <a:prstGeom prst="rect">
            <a:avLst/>
          </a:prstGeom>
          <a:noFill/>
          <a:ln/>
        </p:spPr>
        <p:txBody>
          <a:bodyPr wrap="square" lIns="0" tIns="0" rIns="0" bIns="0" rtlCol="0" anchor="ctr"/>
          <a:lstStyle/>
          <a:p>
            <a:pPr marL="0" indent="0">
              <a:buNone/>
            </a:pPr>
            <a:r>
              <a:rPr lang="en-US" sz="1500" dirty="0">
                <a:solidFill>
                  <a:schemeClr val="bg1"/>
                </a:solidFill>
              </a:rPr>
              <a:t>Try every setting in the grid on the inner folds</a:t>
            </a:r>
            <a:endParaRPr lang="en-US" sz="1500" dirty="0"/>
          </a:p>
        </p:txBody>
      </p:sp>
      <p:sp>
        <p:nvSpPr>
          <p:cNvPr id="13" name="nested step 3"/>
          <p:cNvSpPr/>
          <p:nvPr/>
        </p:nvSpPr>
        <p:spPr>
          <a:xfrm>
            <a:off x="822960" y="3758184"/>
            <a:ext cx="457200" cy="457200"/>
          </a:xfrm>
          <a:prstGeom prst="ellipse">
            <a:avLst/>
          </a:prstGeom>
          <a:solidFill>
            <a:schemeClr val="accent4"/>
          </a:solidFill>
          <a:ln/>
        </p:spPr>
        <p:txBody>
          <a:bodyPr/>
          <a:lstStyle/>
          <a:p>
            <a:endParaRPr lang="en-US"/>
          </a:p>
        </p:txBody>
      </p:sp>
      <p:sp>
        <p:nvSpPr>
          <p:cNvPr id="14" name="Text 12"/>
          <p:cNvSpPr txBox="1"/>
          <p:nvPr/>
        </p:nvSpPr>
        <p:spPr>
          <a:xfrm>
            <a:off x="822960" y="3758184"/>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5" name="Text 13"/>
          <p:cNvSpPr txBox="1"/>
          <p:nvPr/>
        </p:nvSpPr>
        <p:spPr>
          <a:xfrm>
            <a:off x="1463040" y="3776472"/>
            <a:ext cx="3749040" cy="548640"/>
          </a:xfrm>
          <a:prstGeom prst="rect">
            <a:avLst/>
          </a:prstGeom>
          <a:noFill/>
          <a:ln/>
        </p:spPr>
        <p:txBody>
          <a:bodyPr wrap="square" lIns="0" tIns="0" rIns="0" bIns="0" rtlCol="0" anchor="ctr"/>
          <a:lstStyle/>
          <a:p>
            <a:pPr marL="0" indent="0">
              <a:buNone/>
            </a:pPr>
            <a:r>
              <a:rPr lang="en-US" sz="1500" dirty="0">
                <a:solidFill>
                  <a:schemeClr val="bg1"/>
                </a:solidFill>
              </a:rPr>
              <a:t>Keep the setting with the lowest inner log loss</a:t>
            </a:r>
            <a:endParaRPr lang="en-US" sz="1500" dirty="0"/>
          </a:p>
        </p:txBody>
      </p:sp>
      <p:sp>
        <p:nvSpPr>
          <p:cNvPr id="16" name="nested step 4"/>
          <p:cNvSpPr/>
          <p:nvPr/>
        </p:nvSpPr>
        <p:spPr>
          <a:xfrm>
            <a:off x="822960" y="4517136"/>
            <a:ext cx="457200" cy="457200"/>
          </a:xfrm>
          <a:prstGeom prst="ellipse">
            <a:avLst/>
          </a:prstGeom>
          <a:solidFill>
            <a:schemeClr val="accent4"/>
          </a:solidFill>
          <a:ln/>
        </p:spPr>
        <p:txBody>
          <a:bodyPr/>
          <a:lstStyle/>
          <a:p>
            <a:endParaRPr lang="en-US"/>
          </a:p>
        </p:txBody>
      </p:sp>
      <p:sp>
        <p:nvSpPr>
          <p:cNvPr id="17" name="Text 15"/>
          <p:cNvSpPr txBox="1"/>
          <p:nvPr/>
        </p:nvSpPr>
        <p:spPr>
          <a:xfrm>
            <a:off x="822960" y="4517136"/>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4</a:t>
            </a:r>
            <a:endParaRPr lang="en-US" sz="1500" dirty="0"/>
          </a:p>
        </p:txBody>
      </p:sp>
      <p:sp>
        <p:nvSpPr>
          <p:cNvPr id="18" name="Text 16"/>
          <p:cNvSpPr txBox="1"/>
          <p:nvPr/>
        </p:nvSpPr>
        <p:spPr>
          <a:xfrm>
            <a:off x="1463040" y="4535424"/>
            <a:ext cx="3749040" cy="548640"/>
          </a:xfrm>
          <a:prstGeom prst="rect">
            <a:avLst/>
          </a:prstGeom>
          <a:noFill/>
          <a:ln/>
        </p:spPr>
        <p:txBody>
          <a:bodyPr wrap="square" lIns="0" tIns="0" rIns="0" bIns="0" rtlCol="0" anchor="ctr"/>
          <a:lstStyle/>
          <a:p>
            <a:pPr marL="0" indent="0">
              <a:buNone/>
            </a:pPr>
            <a:r>
              <a:rPr lang="en-US" sz="1500" dirty="0">
                <a:solidFill>
                  <a:schemeClr val="bg1"/>
                </a:solidFill>
              </a:rPr>
              <a:t>Refit it on the whole training fold</a:t>
            </a:r>
            <a:endParaRPr lang="en-US" sz="1500" dirty="0"/>
          </a:p>
        </p:txBody>
      </p:sp>
      <p:sp>
        <p:nvSpPr>
          <p:cNvPr id="19" name="nested step 5"/>
          <p:cNvSpPr/>
          <p:nvPr/>
        </p:nvSpPr>
        <p:spPr>
          <a:xfrm>
            <a:off x="822960" y="5276088"/>
            <a:ext cx="457200" cy="457200"/>
          </a:xfrm>
          <a:prstGeom prst="ellipse">
            <a:avLst/>
          </a:prstGeom>
          <a:solidFill>
            <a:schemeClr val="accent4"/>
          </a:solidFill>
          <a:ln/>
        </p:spPr>
        <p:txBody>
          <a:bodyPr/>
          <a:lstStyle/>
          <a:p>
            <a:endParaRPr lang="en-US"/>
          </a:p>
        </p:txBody>
      </p:sp>
      <p:sp>
        <p:nvSpPr>
          <p:cNvPr id="20" name="Text 18"/>
          <p:cNvSpPr txBox="1"/>
          <p:nvPr/>
        </p:nvSpPr>
        <p:spPr>
          <a:xfrm>
            <a:off x="822960" y="5276088"/>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5</a:t>
            </a:r>
            <a:endParaRPr lang="en-US" sz="1500" dirty="0"/>
          </a:p>
        </p:txBody>
      </p:sp>
      <p:sp>
        <p:nvSpPr>
          <p:cNvPr id="21" name="Text 19"/>
          <p:cNvSpPr txBox="1"/>
          <p:nvPr/>
        </p:nvSpPr>
        <p:spPr>
          <a:xfrm>
            <a:off x="1463040" y="5294376"/>
            <a:ext cx="3749040" cy="548640"/>
          </a:xfrm>
          <a:prstGeom prst="rect">
            <a:avLst/>
          </a:prstGeom>
          <a:noFill/>
          <a:ln/>
        </p:spPr>
        <p:txBody>
          <a:bodyPr wrap="square" lIns="0" tIns="0" rIns="0" bIns="0" rtlCol="0" anchor="ctr"/>
          <a:lstStyle/>
          <a:p>
            <a:pPr marL="0" indent="0">
              <a:buNone/>
            </a:pPr>
            <a:r>
              <a:rPr lang="en-US" sz="1500" dirty="0">
                <a:solidFill>
                  <a:schemeClr val="bg1"/>
                </a:solidFill>
              </a:rPr>
              <a:t>Only then predict the held-out fold</a:t>
            </a:r>
            <a:endParaRPr lang="en-US" sz="1500" dirty="0"/>
          </a:p>
        </p:txBody>
      </p:sp>
      <p:graphicFrame>
        <p:nvGraphicFramePr>
          <p:cNvPr id="22" name="grid table"/>
          <p:cNvGraphicFramePr>
            <a:graphicFrameLocks noGrp="1"/>
          </p:cNvGraphicFramePr>
          <p:nvPr>
            <p:extLst>
              <p:ext uri="{D42A27DB-BD31-4B8C-83A1-F6EECF244321}">
                <p14:modId xmlns:p14="http://schemas.microsoft.com/office/powerpoint/2010/main" val="1579011935"/>
              </p:ext>
            </p:extLst>
          </p:nvPr>
        </p:nvGraphicFramePr>
        <p:xfrm>
          <a:off x="5669280" y="1417320"/>
          <a:ext cx="5943600" cy="3837432"/>
        </p:xfrm>
        <a:graphic>
          <a:graphicData uri="http://schemas.openxmlformats.org/drawingml/2006/table">
            <a:tbl>
              <a:tblPr/>
              <a:tblGrid>
                <a:gridCol w="16002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0">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Grid</a:t>
                      </a:r>
                      <a:endParaRPr lang="en-US" sz="13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Chosen most often</a:t>
                      </a:r>
                      <a:endParaRPr lang="en-US" sz="13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0">
                <a:tc>
                  <a:txBody>
                    <a:bodyPr/>
                    <a:lstStyle/>
                    <a:p>
                      <a:pPr marL="0" indent="0">
                        <a:buNone/>
                      </a:pPr>
                      <a:r>
                        <a:rPr lang="en-US" sz="1300" b="1" dirty="0">
                          <a:solidFill>
                            <a:srgbClr val="000000"/>
                          </a:solidFill>
                          <a:latin typeface="Calibri" pitchFamily="34" charset="0"/>
                          <a:ea typeface="Calibri" pitchFamily="34" charset="-122"/>
                          <a:cs typeface="Calibri" pitchFamily="34" charset="-120"/>
                        </a:rPr>
                        <a:t>Bayesian network</a:t>
                      </a:r>
                      <a:endParaRPr lang="en-US" sz="13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pseudo_count: 0.5, 1, 2, 5, 10</a:t>
                      </a:r>
                      <a:endParaRPr lang="en-US" sz="12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pseudo_count = 10</a:t>
                      </a:r>
                      <a:endParaRPr lang="en-US" sz="1200" dirty="0">
                        <a:latin typeface="Calibri" charset="0"/>
                        <a:ea typeface="Calibri" charset="0"/>
                        <a:cs typeface="Calibri" charset="0"/>
                      </a:endParaRPr>
                    </a:p>
                    <a:p>
                      <a:pPr marL="0" indent="0">
                        <a:buNone/>
                      </a:pPr>
                      <a:r>
                        <a:rPr lang="en-US" sz="1200" dirty="0">
                          <a:solidFill>
                            <a:srgbClr val="000000"/>
                          </a:solidFill>
                          <a:latin typeface="Calibri" pitchFamily="34" charset="0"/>
                          <a:ea typeface="Calibri" pitchFamily="34" charset="-122"/>
                          <a:cs typeface="Calibri" pitchFamily="34" charset="-120"/>
                        </a:rPr>
                        <a:t>(25/25 folds)</a:t>
                      </a:r>
                      <a:endParaRPr lang="en-US" sz="12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0">
                <a:tc>
                  <a:txBody>
                    <a:bodyPr/>
                    <a:lstStyle/>
                    <a:p>
                      <a:pPr marL="0" indent="0">
                        <a:buNone/>
                      </a:pPr>
                      <a:r>
                        <a:rPr lang="en-US" sz="1300" b="1" dirty="0">
                          <a:solidFill>
                            <a:srgbClr val="000000"/>
                          </a:solidFill>
                          <a:latin typeface="Calibri" pitchFamily="34" charset="0"/>
                          <a:ea typeface="Calibri" pitchFamily="34" charset="-122"/>
                          <a:cs typeface="Calibri" pitchFamily="34" charset="-120"/>
                        </a:rPr>
                        <a:t>Naive Bayes</a:t>
                      </a:r>
                      <a:endParaRPr lang="en-US" sz="13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alpha: 0.5, 1, 2, 5, 10</a:t>
                      </a:r>
                      <a:endParaRPr lang="en-US" sz="12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alpha = 10</a:t>
                      </a:r>
                      <a:endParaRPr lang="en-US" sz="1200" dirty="0">
                        <a:latin typeface="Calibri" charset="0"/>
                        <a:ea typeface="Calibri" charset="0"/>
                        <a:cs typeface="Calibri" charset="0"/>
                      </a:endParaRPr>
                    </a:p>
                    <a:p>
                      <a:pPr marL="0" indent="0">
                        <a:buNone/>
                      </a:pPr>
                      <a:r>
                        <a:rPr lang="en-US" sz="1200" dirty="0">
                          <a:solidFill>
                            <a:srgbClr val="000000"/>
                          </a:solidFill>
                          <a:latin typeface="Calibri" pitchFamily="34" charset="0"/>
                          <a:ea typeface="Calibri" pitchFamily="34" charset="-122"/>
                          <a:cs typeface="Calibri" pitchFamily="34" charset="-120"/>
                        </a:rPr>
                        <a:t>(25/25 folds)</a:t>
                      </a:r>
                      <a:endParaRPr lang="en-US" sz="12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0">
                <a:tc>
                  <a:txBody>
                    <a:bodyPr/>
                    <a:lstStyle/>
                    <a:p>
                      <a:pPr marL="0" indent="0">
                        <a:buNone/>
                      </a:pPr>
                      <a:r>
                        <a:rPr lang="en-US" sz="1300" b="1" dirty="0">
                          <a:solidFill>
                            <a:srgbClr val="000000"/>
                          </a:solidFill>
                          <a:latin typeface="Calibri" pitchFamily="34" charset="0"/>
                          <a:ea typeface="Calibri" pitchFamily="34" charset="-122"/>
                          <a:cs typeface="Calibri" pitchFamily="34" charset="-120"/>
                        </a:rPr>
                        <a:t>Logistic Regression</a:t>
                      </a:r>
                      <a:endParaRPr lang="en-US" sz="13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C: 0.01, 0.1, 1, 10</a:t>
                      </a:r>
                      <a:endParaRPr lang="en-US" sz="12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C = 1</a:t>
                      </a:r>
                      <a:endParaRPr lang="en-US" sz="1200" dirty="0">
                        <a:latin typeface="Calibri" charset="0"/>
                        <a:ea typeface="Calibri" charset="0"/>
                        <a:cs typeface="Calibri" charset="0"/>
                      </a:endParaRPr>
                    </a:p>
                    <a:p>
                      <a:pPr marL="0" indent="0">
                        <a:buNone/>
                      </a:pPr>
                      <a:r>
                        <a:rPr lang="en-US" sz="1200" dirty="0">
                          <a:solidFill>
                            <a:srgbClr val="000000"/>
                          </a:solidFill>
                          <a:latin typeface="Calibri" pitchFamily="34" charset="0"/>
                          <a:ea typeface="Calibri" pitchFamily="34" charset="-122"/>
                          <a:cs typeface="Calibri" pitchFamily="34" charset="-120"/>
                        </a:rPr>
                        <a:t>(14/25 folds)</a:t>
                      </a:r>
                      <a:endParaRPr lang="en-US" sz="12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0">
                <a:tc>
                  <a:txBody>
                    <a:bodyPr/>
                    <a:lstStyle/>
                    <a:p>
                      <a:pPr marL="0" indent="0">
                        <a:buNone/>
                      </a:pPr>
                      <a:r>
                        <a:rPr lang="en-US" sz="1300" b="1" dirty="0">
                          <a:solidFill>
                            <a:srgbClr val="000000"/>
                          </a:solidFill>
                          <a:latin typeface="Calibri" pitchFamily="34" charset="0"/>
                          <a:ea typeface="Calibri" pitchFamily="34" charset="-122"/>
                          <a:cs typeface="Calibri" pitchFamily="34" charset="-120"/>
                        </a:rPr>
                        <a:t>SVM</a:t>
                      </a:r>
                      <a:endParaRPr lang="en-US" sz="13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C: 0.1, 1, 10</a:t>
                      </a:r>
                      <a:endParaRPr lang="en-US" sz="1200" dirty="0">
                        <a:latin typeface="Calibri" charset="0"/>
                        <a:ea typeface="Calibri" charset="0"/>
                        <a:cs typeface="Calibri" charset="0"/>
                      </a:endParaRPr>
                    </a:p>
                    <a:p>
                      <a:pPr marL="0" indent="0">
                        <a:buNone/>
                      </a:pPr>
                      <a:r>
                        <a:rPr lang="en-US" sz="1200" dirty="0">
                          <a:solidFill>
                            <a:srgbClr val="000000"/>
                          </a:solidFill>
                          <a:latin typeface="Calibri" pitchFamily="34" charset="0"/>
                          <a:ea typeface="Calibri" pitchFamily="34" charset="-122"/>
                          <a:cs typeface="Calibri" pitchFamily="34" charset="-120"/>
                        </a:rPr>
                        <a:t>gamma: scale, 0.01</a:t>
                      </a:r>
                      <a:endParaRPr lang="en-US" sz="12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C = 1, gamma = 0.01</a:t>
                      </a:r>
                      <a:endParaRPr lang="en-US" sz="1200" dirty="0">
                        <a:latin typeface="Calibri" charset="0"/>
                        <a:ea typeface="Calibri" charset="0"/>
                        <a:cs typeface="Calibri" charset="0"/>
                      </a:endParaRPr>
                    </a:p>
                    <a:p>
                      <a:pPr marL="0" indent="0">
                        <a:buNone/>
                      </a:pPr>
                      <a:r>
                        <a:rPr lang="en-US" sz="1200" dirty="0">
                          <a:solidFill>
                            <a:srgbClr val="000000"/>
                          </a:solidFill>
                          <a:latin typeface="Calibri" pitchFamily="34" charset="0"/>
                          <a:ea typeface="Calibri" pitchFamily="34" charset="-122"/>
                          <a:cs typeface="Calibri" pitchFamily="34" charset="-120"/>
                        </a:rPr>
                        <a:t>(23/25 folds)</a:t>
                      </a:r>
                      <a:endParaRPr lang="en-US" sz="12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0">
                <a:tc>
                  <a:txBody>
                    <a:bodyPr/>
                    <a:lstStyle/>
                    <a:p>
                      <a:pPr marL="0" indent="0">
                        <a:buNone/>
                      </a:pPr>
                      <a:r>
                        <a:rPr lang="en-US" sz="1300" b="1" dirty="0">
                          <a:solidFill>
                            <a:srgbClr val="000000"/>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n_estimators: 200, 500</a:t>
                      </a:r>
                      <a:endParaRPr lang="en-US" sz="1200" dirty="0">
                        <a:latin typeface="Calibri" charset="0"/>
                        <a:ea typeface="Calibri" charset="0"/>
                        <a:cs typeface="Calibri" charset="0"/>
                      </a:endParaRPr>
                    </a:p>
                    <a:p>
                      <a:pPr marL="0" indent="0">
                        <a:buNone/>
                      </a:pPr>
                      <a:r>
                        <a:rPr lang="en-US" sz="1200" dirty="0">
                          <a:solidFill>
                            <a:srgbClr val="000000"/>
                          </a:solidFill>
                          <a:latin typeface="Calibri" pitchFamily="34" charset="0"/>
                          <a:ea typeface="Calibri" pitchFamily="34" charset="-122"/>
                          <a:cs typeface="Calibri" pitchFamily="34" charset="-120"/>
                        </a:rPr>
                        <a:t>max_depth: 3, 5, None</a:t>
                      </a:r>
                      <a:endParaRPr lang="en-US" sz="12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n_estimators = 200, max_depth = 5</a:t>
                      </a:r>
                      <a:endParaRPr lang="en-US" sz="1200" dirty="0">
                        <a:latin typeface="Calibri" charset="0"/>
                        <a:ea typeface="Calibri" charset="0"/>
                        <a:cs typeface="Calibri" charset="0"/>
                      </a:endParaRPr>
                    </a:p>
                    <a:p>
                      <a:pPr marL="0" indent="0">
                        <a:buNone/>
                      </a:pPr>
                      <a:r>
                        <a:rPr lang="en-US" sz="1200" dirty="0">
                          <a:solidFill>
                            <a:srgbClr val="000000"/>
                          </a:solidFill>
                          <a:latin typeface="Calibri" pitchFamily="34" charset="0"/>
                          <a:ea typeface="Calibri" pitchFamily="34" charset="-122"/>
                          <a:cs typeface="Calibri" pitchFamily="34" charset="-120"/>
                        </a:rPr>
                        <a:t>(8/25 folds)</a:t>
                      </a:r>
                      <a:endParaRPr lang="en-US" sz="12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0">
                <a:tc>
                  <a:txBody>
                    <a:bodyPr/>
                    <a:lstStyle/>
                    <a:p>
                      <a:pPr marL="0" indent="0">
                        <a:buNone/>
                      </a:pPr>
                      <a:r>
                        <a:rPr lang="en-US" sz="1300" b="1" dirty="0">
                          <a:solidFill>
                            <a:srgbClr val="000000"/>
                          </a:solidFill>
                          <a:latin typeface="Calibri" pitchFamily="34" charset="0"/>
                          <a:ea typeface="Calibri" pitchFamily="34" charset="-122"/>
                          <a:cs typeface="Calibri" pitchFamily="34" charset="-120"/>
                        </a:rPr>
                        <a:t>Gradient Boosting</a:t>
                      </a:r>
                      <a:endParaRPr lang="en-US" sz="13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learning_rate: 0.05, 0.1</a:t>
                      </a:r>
                      <a:endParaRPr lang="en-US" sz="1200" dirty="0">
                        <a:latin typeface="Calibri" charset="0"/>
                        <a:ea typeface="Calibri" charset="0"/>
                        <a:cs typeface="Calibri" charset="0"/>
                      </a:endParaRPr>
                    </a:p>
                    <a:p>
                      <a:pPr marL="0" indent="0">
                        <a:buNone/>
                      </a:pPr>
                      <a:r>
                        <a:rPr lang="en-US" sz="1200" dirty="0">
                          <a:solidFill>
                            <a:srgbClr val="000000"/>
                          </a:solidFill>
                          <a:latin typeface="Calibri" pitchFamily="34" charset="0"/>
                          <a:ea typeface="Calibri" pitchFamily="34" charset="-122"/>
                          <a:cs typeface="Calibri" pitchFamily="34" charset="-120"/>
                        </a:rPr>
                        <a:t>n_estimators: 100, 200</a:t>
                      </a:r>
                      <a:endParaRPr lang="en-US" sz="1200" dirty="0">
                        <a:latin typeface="Calibri" charset="0"/>
                        <a:ea typeface="Calibri" charset="0"/>
                        <a:cs typeface="Calibri" charset="0"/>
                      </a:endParaRPr>
                    </a:p>
                    <a:p>
                      <a:pPr marL="0" indent="0">
                        <a:buNone/>
                      </a:pPr>
                      <a:r>
                        <a:rPr lang="en-US" sz="1200" dirty="0">
                          <a:solidFill>
                            <a:srgbClr val="000000"/>
                          </a:solidFill>
                          <a:latin typeface="Calibri" pitchFamily="34" charset="0"/>
                          <a:ea typeface="Calibri" pitchFamily="34" charset="-122"/>
                          <a:cs typeface="Calibri" pitchFamily="34" charset="-120"/>
                        </a:rPr>
                        <a:t>max_depth: 2, 3</a:t>
                      </a:r>
                      <a:endParaRPr lang="en-US" sz="12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learning_rate = 0.05, n_estimators = 100, max_depth = 2</a:t>
                      </a:r>
                      <a:endParaRPr lang="en-US" sz="1200" dirty="0">
                        <a:latin typeface="Calibri" charset="0"/>
                        <a:ea typeface="Calibri" charset="0"/>
                        <a:cs typeface="Calibri" charset="0"/>
                      </a:endParaRPr>
                    </a:p>
                    <a:p>
                      <a:pPr marL="0" indent="0">
                        <a:buNone/>
                      </a:pPr>
                      <a:r>
                        <a:rPr lang="en-US" sz="1200" dirty="0">
                          <a:solidFill>
                            <a:srgbClr val="000000"/>
                          </a:solidFill>
                          <a:latin typeface="Calibri" pitchFamily="34" charset="0"/>
                          <a:ea typeface="Calibri" pitchFamily="34" charset="-122"/>
                          <a:cs typeface="Calibri" pitchFamily="34" charset="-120"/>
                        </a:rPr>
                        <a:t>(20/25 folds)</a:t>
                      </a:r>
                      <a:endParaRPr lang="en-US" sz="1200" dirty="0">
                        <a:latin typeface="Calibri" charset="0"/>
                        <a:ea typeface="Calibri" charset="0"/>
                        <a:cs typeface="Calibri" charset="0"/>
                      </a:endParaRPr>
                    </a:p>
                  </a:txBody>
                  <a:tcPr marL="64008" marR="64008" marT="64008" marB="6400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4" name="Text 0"/>
          <p:cNvSpPr>
            <a:spLocks noGrp="1"/>
          </p:cNvSpPr>
          <p:nvPr>
            <p:ph type="title" idx="100" hasCustomPrompt="1"/>
          </p:nvPr>
        </p:nvSpPr>
        <p:spPr>
          <a:xfrm>
            <a:off x="548640" y="365760"/>
            <a:ext cx="914400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Results: the six models are close</a:t>
            </a:r>
            <a:endParaRPr lang="en-US" sz="3200" dirty="0"/>
          </a:p>
        </p:txBody>
      </p:sp>
      <p:graphicFrame>
        <p:nvGraphicFramePr>
          <p:cNvPr id="5" name="Chart 0"/>
          <p:cNvGraphicFramePr/>
          <p:nvPr/>
        </p:nvGraphicFramePr>
        <p:xfrm>
          <a:off x="457200" y="1325880"/>
          <a:ext cx="5120640" cy="48463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results table"/>
          <p:cNvGraphicFramePr>
            <a:graphicFrameLocks noGrp="1"/>
          </p:cNvGraphicFramePr>
          <p:nvPr>
            <p:extLst>
              <p:ext uri="{D42A27DB-BD31-4B8C-83A1-F6EECF244321}">
                <p14:modId xmlns:p14="http://schemas.microsoft.com/office/powerpoint/2010/main" val="1579011935"/>
              </p:ext>
            </p:extLst>
          </p:nvPr>
        </p:nvGraphicFramePr>
        <p:xfrm>
          <a:off x="5852160" y="1463040"/>
          <a:ext cx="5760720" cy="3200400"/>
        </p:xfrm>
        <a:graphic>
          <a:graphicData uri="http://schemas.openxmlformats.org/drawingml/2006/table">
            <a:tbl>
              <a:tblPr/>
              <a:tblGrid>
                <a:gridCol w="1828800">
                  <a:extLst>
                    <a:ext uri="{9D8B030D-6E8A-4147-A177-3AD203B41FA5}">
                      <a16:colId xmlns:a16="http://schemas.microsoft.com/office/drawing/2014/main" val="20000"/>
                    </a:ext>
                  </a:extLst>
                </a:gridCol>
                <a:gridCol w="786384">
                  <a:extLst>
                    <a:ext uri="{9D8B030D-6E8A-4147-A177-3AD203B41FA5}">
                      <a16:colId xmlns:a16="http://schemas.microsoft.com/office/drawing/2014/main" val="20001"/>
                    </a:ext>
                  </a:extLst>
                </a:gridCol>
                <a:gridCol w="786384">
                  <a:extLst>
                    <a:ext uri="{9D8B030D-6E8A-4147-A177-3AD203B41FA5}">
                      <a16:colId xmlns:a16="http://schemas.microsoft.com/office/drawing/2014/main" val="20002"/>
                    </a:ext>
                  </a:extLst>
                </a:gridCol>
                <a:gridCol w="786384">
                  <a:extLst>
                    <a:ext uri="{9D8B030D-6E8A-4147-A177-3AD203B41FA5}">
                      <a16:colId xmlns:a16="http://schemas.microsoft.com/office/drawing/2014/main" val="20003"/>
                    </a:ext>
                  </a:extLst>
                </a:gridCol>
                <a:gridCol w="786384">
                  <a:extLst>
                    <a:ext uri="{9D8B030D-6E8A-4147-A177-3AD203B41FA5}">
                      <a16:colId xmlns:a16="http://schemas.microsoft.com/office/drawing/2014/main" val="20004"/>
                    </a:ext>
                  </a:extLst>
                </a:gridCol>
                <a:gridCol w="786384">
                  <a:extLst>
                    <a:ext uri="{9D8B030D-6E8A-4147-A177-3AD203B41FA5}">
                      <a16:colId xmlns:a16="http://schemas.microsoft.com/office/drawing/2014/main" val="20005"/>
                    </a:ext>
                  </a:extLst>
                </a:gridCol>
              </a:tblGrid>
              <a:tr h="457200">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Sensitivity</a:t>
                      </a:r>
                      <a:endParaRPr lang="en-US" sz="12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Specificity</a:t>
                      </a:r>
                      <a:endParaRPr lang="en-US" sz="12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Brier</a:t>
                      </a:r>
                      <a:endParaRPr lang="en-US" sz="12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000000"/>
                          </a:solidFill>
                          <a:latin typeface="Calibri" pitchFamily="34" charset="0"/>
                          <a:ea typeface="Calibri" pitchFamily="34" charset="-122"/>
                          <a:cs typeface="Calibri" pitchFamily="34" charset="-120"/>
                        </a:rPr>
                        <a:t>Bayesian network</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0.829</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0.793</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0.861</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0.810</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0.121</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000000"/>
                          </a:solidFill>
                          <a:latin typeface="Calibri" pitchFamily="34" charset="0"/>
                          <a:ea typeface="Calibri" pitchFamily="34" charset="-122"/>
                          <a:cs typeface="Calibri" pitchFamily="34" charset="-120"/>
                        </a:rPr>
                        <a:t>Naive Bayes</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0.828</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0.794</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0.857</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0.808</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0.129</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57200">
                <a:tc>
                  <a:txBody>
                    <a:bodyPr/>
                    <a:lstStyle/>
                    <a:p>
                      <a:pPr marL="0" indent="0">
                        <a:buNone/>
                      </a:pPr>
                      <a:r>
                        <a:rPr lang="en-US" sz="1300" b="1" dirty="0">
                          <a:solidFill>
                            <a:srgbClr val="000000"/>
                          </a:solidFill>
                          <a:latin typeface="Calibri" pitchFamily="34" charset="0"/>
                          <a:ea typeface="Calibri" pitchFamily="34" charset="-122"/>
                          <a:cs typeface="Calibri" pitchFamily="34" charset="-120"/>
                        </a:rPr>
                        <a:t>Logistic Regression</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0.847</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0.780</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0.905</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0.823</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0.120</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57200">
                <a:tc>
                  <a:txBody>
                    <a:bodyPr/>
                    <a:lstStyle/>
                    <a:p>
                      <a:pPr marL="0" indent="0">
                        <a:buNone/>
                      </a:pPr>
                      <a:r>
                        <a:rPr lang="en-US" sz="1300" b="1" dirty="0">
                          <a:solidFill>
                            <a:srgbClr val="000000"/>
                          </a:solidFill>
                          <a:latin typeface="Calibri" pitchFamily="34" charset="0"/>
                          <a:ea typeface="Calibri" pitchFamily="34" charset="-122"/>
                          <a:cs typeface="Calibri" pitchFamily="34" charset="-120"/>
                        </a:rPr>
                        <a:t>SVM</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0.849</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0.790</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0.899</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0.826</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0.119</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57200">
                <a:tc>
                  <a:txBody>
                    <a:bodyPr/>
                    <a:lstStyle/>
                    <a:p>
                      <a:pPr marL="0" indent="0">
                        <a:buNone/>
                      </a:pPr>
                      <a:r>
                        <a:rPr lang="en-US" sz="1300" b="1" dirty="0">
                          <a:solidFill>
                            <a:srgbClr val="000000"/>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0.834</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0.778</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0.882</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0.810</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0.126</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57200">
                <a:tc>
                  <a:txBody>
                    <a:bodyPr/>
                    <a:lstStyle/>
                    <a:p>
                      <a:pPr marL="0" indent="0">
                        <a:buNone/>
                      </a:pPr>
                      <a:r>
                        <a:rPr lang="en-US" sz="1300" b="1" dirty="0">
                          <a:solidFill>
                            <a:srgbClr val="000000"/>
                          </a:solidFill>
                          <a:latin typeface="Calibri" pitchFamily="34" charset="0"/>
                          <a:ea typeface="Calibri" pitchFamily="34" charset="-122"/>
                          <a:cs typeface="Calibri" pitchFamily="34" charset="-120"/>
                        </a:rPr>
                        <a:t>Gradient Boosting</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0.818</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0.772</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0.857</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0.795</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0.131</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7" name="Text 3"/>
          <p:cNvSpPr txBox="1"/>
          <p:nvPr/>
        </p:nvSpPr>
        <p:spPr>
          <a:xfrm>
            <a:off x="5852160" y="4800600"/>
            <a:ext cx="5760720" cy="548640"/>
          </a:xfrm>
          <a:prstGeom prst="rect">
            <a:avLst/>
          </a:prstGeom>
          <a:noFill/>
          <a:ln/>
        </p:spPr>
        <p:txBody>
          <a:bodyPr wrap="square" lIns="0" tIns="0" rIns="0" bIns="0" rtlCol="0" anchor="t"/>
          <a:lstStyle/>
          <a:p>
            <a:pPr marL="0" indent="0">
              <a:buNone/>
            </a:pPr>
            <a:r>
              <a:rPr lang="en-US" sz="1300" dirty="0">
                <a:solidFill>
                  <a:schemeClr val="accent5"/>
                </a:solidFill>
              </a:rPr>
              <a:t>Mean over 25 outer folds, threshold 0.5. Fold-to-fold SD: accuracy ≈ 0.05, ROC AUC ≈ 0.03–0.04.</a:t>
            </a:r>
            <a:endParaRPr lang="en-US" sz="1300" dirty="0"/>
          </a:p>
        </p:txBody>
      </p:sp>
      <p:sp>
        <p:nvSpPr>
          <p:cNvPr id="8" name="Text 4"/>
          <p:cNvSpPr txBox="1"/>
          <p:nvPr/>
        </p:nvSpPr>
        <p:spPr>
          <a:xfrm>
            <a:off x="5852160" y="5349240"/>
            <a:ext cx="5760720" cy="822960"/>
          </a:xfrm>
          <a:prstGeom prst="rect">
            <a:avLst/>
          </a:prstGeom>
          <a:noFill/>
          <a:ln/>
        </p:spPr>
        <p:txBody>
          <a:bodyPr wrap="square" lIns="0" tIns="0" rIns="0" bIns="0" rtlCol="0" anchor="t"/>
          <a:lstStyle/>
          <a:p>
            <a:pPr marL="0" indent="0">
              <a:buNone/>
            </a:pPr>
            <a:r>
              <a:rPr lang="en-US" sz="1500" i="1" dirty="0">
                <a:solidFill>
                  <a:schemeClr val="tx1"/>
                </a:solidFill>
              </a:rPr>
              <a:t>Highest ROC AUC: Bayesian network (0.910); highest accuracy: SVM (84.9%); lowest: Gradient Boosting.</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4" name="Text 0"/>
          <p:cNvSpPr>
            <a:spLocks noGrp="1"/>
          </p:cNvSpPr>
          <p:nvPr>
            <p:ph type="title" idx="100" hasCustomPrompt="1"/>
          </p:nvPr>
        </p:nvSpPr>
        <p:spPr>
          <a:xfrm>
            <a:off x="548640" y="365760"/>
            <a:ext cx="914400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Are the differences real?</a:t>
            </a:r>
            <a:endParaRPr lang="en-US" sz="3200" dirty="0"/>
          </a:p>
        </p:txBody>
      </p:sp>
      <p:pic>
        <p:nvPicPr>
          <p:cNvPr id="5" name="roc curves" descr="ROC curves of the six models, nearly overlapping"/>
          <p:cNvPicPr>
            <a:picLocks noChangeAspect="1"/>
          </p:cNvPicPr>
          <p:nvPr/>
        </p:nvPicPr>
        <p:blipFill>
          <a:blip r:embed="rId3"/>
          <a:stretch>
            <a:fillRect/>
          </a:stretch>
        </p:blipFill>
        <p:spPr>
          <a:xfrm>
            <a:off x="365760" y="1378373"/>
            <a:ext cx="5120640" cy="4741333"/>
          </a:xfrm>
          <a:prstGeom prst="rect">
            <a:avLst/>
          </a:prstGeom>
        </p:spPr>
      </p:pic>
      <p:sp>
        <p:nvSpPr>
          <p:cNvPr id="6" name="Text 3"/>
          <p:cNvSpPr txBox="1"/>
          <p:nvPr/>
        </p:nvSpPr>
        <p:spPr>
          <a:xfrm>
            <a:off x="5852160" y="1463040"/>
            <a:ext cx="2743200" cy="731520"/>
          </a:xfrm>
          <a:prstGeom prst="rect">
            <a:avLst/>
          </a:prstGeom>
          <a:noFill/>
          <a:ln/>
        </p:spPr>
        <p:txBody>
          <a:bodyPr wrap="square" lIns="0" tIns="0" rIns="0" bIns="0" rtlCol="0" anchor="t"/>
          <a:lstStyle/>
          <a:p>
            <a:pPr marL="0" indent="0">
              <a:buNone/>
            </a:pPr>
            <a:r>
              <a:rPr lang="en-US" sz="4000" b="1" dirty="0">
                <a:solidFill>
                  <a:schemeClr val="accent4"/>
                </a:solidFill>
                <a:latin typeface="Cambria" pitchFamily="34" charset="0"/>
                <a:ea typeface="Cambria" pitchFamily="34" charset="-122"/>
                <a:cs typeface="Cambria" pitchFamily="34" charset="-120"/>
              </a:rPr>
              <a:t>12 / 15</a:t>
            </a:r>
            <a:endParaRPr lang="en-US" sz="4000" dirty="0"/>
          </a:p>
        </p:txBody>
      </p:sp>
      <p:sp>
        <p:nvSpPr>
          <p:cNvPr id="7" name="Text 4"/>
          <p:cNvSpPr txBox="1"/>
          <p:nvPr/>
        </p:nvSpPr>
        <p:spPr>
          <a:xfrm>
            <a:off x="5852160" y="2240280"/>
            <a:ext cx="2743200" cy="822960"/>
          </a:xfrm>
          <a:prstGeom prst="rect">
            <a:avLst/>
          </a:prstGeom>
          <a:noFill/>
          <a:ln/>
        </p:spPr>
        <p:txBody>
          <a:bodyPr wrap="square" lIns="0" tIns="0" rIns="0" bIns="0" rtlCol="0" anchor="t"/>
          <a:lstStyle/>
          <a:p>
            <a:pPr marL="0" indent="0">
              <a:buNone/>
            </a:pPr>
            <a:r>
              <a:rPr lang="en-US" sz="1400" dirty="0">
                <a:solidFill>
                  <a:schemeClr val="tx1"/>
                </a:solidFill>
              </a:rPr>
              <a:t>paired ROC AUC differences whose 95% interval includes zero</a:t>
            </a:r>
            <a:endParaRPr lang="en-US" sz="1400" dirty="0"/>
          </a:p>
        </p:txBody>
      </p:sp>
      <p:sp>
        <p:nvSpPr>
          <p:cNvPr id="8" name="Text 5"/>
          <p:cNvSpPr txBox="1"/>
          <p:nvPr/>
        </p:nvSpPr>
        <p:spPr>
          <a:xfrm>
            <a:off x="8869680" y="1463040"/>
            <a:ext cx="2743200" cy="731520"/>
          </a:xfrm>
          <a:prstGeom prst="rect">
            <a:avLst/>
          </a:prstGeom>
          <a:noFill/>
          <a:ln/>
        </p:spPr>
        <p:txBody>
          <a:bodyPr wrap="square" lIns="0" tIns="0" rIns="0" bIns="0" rtlCol="0" anchor="t"/>
          <a:lstStyle/>
          <a:p>
            <a:pPr marL="0" indent="0">
              <a:buNone/>
            </a:pPr>
            <a:r>
              <a:rPr lang="en-US" sz="4000" b="1" dirty="0">
                <a:solidFill>
                  <a:schemeClr val="accent4"/>
                </a:solidFill>
                <a:latin typeface="Cambria" pitchFamily="34" charset="0"/>
                <a:ea typeface="Cambria" pitchFamily="34" charset="-122"/>
                <a:cs typeface="Cambria" pitchFamily="34" charset="-120"/>
              </a:rPr>
              <a:t>12 / 15</a:t>
            </a:r>
            <a:endParaRPr lang="en-US" sz="4000" dirty="0"/>
          </a:p>
        </p:txBody>
      </p:sp>
      <p:sp>
        <p:nvSpPr>
          <p:cNvPr id="9" name="Text 6"/>
          <p:cNvSpPr txBox="1"/>
          <p:nvPr/>
        </p:nvSpPr>
        <p:spPr>
          <a:xfrm>
            <a:off x="8869680" y="2240280"/>
            <a:ext cx="2743200" cy="822960"/>
          </a:xfrm>
          <a:prstGeom prst="rect">
            <a:avLst/>
          </a:prstGeom>
          <a:noFill/>
          <a:ln/>
        </p:spPr>
        <p:txBody>
          <a:bodyPr wrap="square" lIns="0" tIns="0" rIns="0" bIns="0" rtlCol="0" anchor="t"/>
          <a:lstStyle/>
          <a:p>
            <a:pPr marL="0" indent="0">
              <a:buNone/>
            </a:pPr>
            <a:r>
              <a:rPr lang="en-US" sz="1400" dirty="0">
                <a:solidFill>
                  <a:schemeClr val="tx1"/>
                </a:solidFill>
              </a:rPr>
              <a:t>paired accuracy differences whose 95% interval includes zero</a:t>
            </a:r>
            <a:endParaRPr lang="en-US" sz="1400" dirty="0"/>
          </a:p>
        </p:txBody>
      </p:sp>
      <p:sp>
        <p:nvSpPr>
          <p:cNvPr id="10" name="paired explain card"/>
          <p:cNvSpPr/>
          <p:nvPr/>
        </p:nvSpPr>
        <p:spPr>
          <a:xfrm>
            <a:off x="5852160" y="3337560"/>
            <a:ext cx="5760720" cy="2788920"/>
          </a:xfrm>
          <a:prstGeom prst="roundRect">
            <a:avLst>
              <a:gd name="adj" fmla="val 3934"/>
            </a:avLst>
          </a:prstGeom>
          <a:solidFill>
            <a:schemeClr val="bg2"/>
          </a:solidFill>
          <a:ln/>
        </p:spPr>
        <p:txBody>
          <a:bodyPr/>
          <a:lstStyle/>
          <a:p>
            <a:endParaRPr lang="en-US"/>
          </a:p>
        </p:txBody>
      </p:sp>
      <p:sp>
        <p:nvSpPr>
          <p:cNvPr id="11" name="Text 8"/>
          <p:cNvSpPr txBox="1"/>
          <p:nvPr/>
        </p:nvSpPr>
        <p:spPr>
          <a:xfrm>
            <a:off x="6080760" y="3520440"/>
            <a:ext cx="5303520" cy="365760"/>
          </a:xfrm>
          <a:prstGeom prst="rect">
            <a:avLst/>
          </a:prstGeom>
          <a:noFill/>
          <a:ln/>
        </p:spPr>
        <p:txBody>
          <a:bodyPr wrap="square" lIns="0" tIns="0" rIns="0" bIns="0" rtlCol="0" anchor="t"/>
          <a:lstStyle/>
          <a:p>
            <a:pPr marL="0" indent="0">
              <a:buNone/>
            </a:pPr>
            <a:r>
              <a:rPr lang="en-US" sz="1700" b="1" dirty="0">
                <a:solidFill>
                  <a:schemeClr val="tx2"/>
                </a:solidFill>
              </a:rPr>
              <a:t>How we checked</a:t>
            </a:r>
            <a:endParaRPr lang="en-US" sz="1700" dirty="0"/>
          </a:p>
        </p:txBody>
      </p:sp>
      <p:sp>
        <p:nvSpPr>
          <p:cNvPr id="12" name="Text 9"/>
          <p:cNvSpPr txBox="1"/>
          <p:nvPr/>
        </p:nvSpPr>
        <p:spPr>
          <a:xfrm>
            <a:off x="6080760" y="3977640"/>
            <a:ext cx="534924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Resample the 303 patients 2000 times (bootstrap), recompute every model's score, take the difference</a:t>
            </a:r>
            <a:endParaRPr lang="en-US" sz="1400" dirty="0"/>
          </a:p>
          <a:p>
            <a:pPr marL="342900" indent="-342900">
              <a:spcAft>
                <a:spcPts val="800"/>
              </a:spcAft>
              <a:buSzPct val="100000"/>
              <a:buChar char="•"/>
            </a:pPr>
            <a:r>
              <a:rPr lang="en-US" sz="1400" dirty="0">
                <a:solidFill>
                  <a:schemeClr val="tx1"/>
                </a:solidFill>
              </a:rPr>
              <a:t>If the 95% interval of a difference includes 0, the data cannot tell those two models apart</a:t>
            </a:r>
            <a:endParaRPr lang="en-US" sz="1400" dirty="0"/>
          </a:p>
          <a:p>
            <a:pPr marL="342900" indent="-342900">
              <a:spcAft>
                <a:spcPts val="800"/>
              </a:spcAft>
              <a:buSzPct val="100000"/>
              <a:buChar char="•"/>
            </a:pPr>
            <a:r>
              <a:rPr lang="en-US" sz="1400" dirty="0">
                <a:solidFill>
                  <a:schemeClr val="tx1"/>
                </a:solidFill>
              </a:rPr>
              <a:t>Every interval that excludes 0 involves Gradient Boosting: it is slightly behind; the other five tie</a:t>
            </a:r>
            <a:endParaRPr lang="en-US" sz="1400" dirty="0"/>
          </a:p>
          <a:p>
            <a:pPr marL="342900" indent="-342900">
              <a:spcAft>
                <a:spcPts val="800"/>
              </a:spcAft>
              <a:buSzPct val="100000"/>
              <a:buChar char="•"/>
            </a:pPr>
            <a:r>
              <a:rPr lang="en-US" sz="1400" dirty="0">
                <a:solidFill>
                  <a:schemeClr val="tx1"/>
                </a:solidFill>
              </a:rPr>
              <a:t>Each model still misses about 29–32 of the 139 diseased patients per repeat at threshold 0.5</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4" name="Text 0"/>
          <p:cNvSpPr>
            <a:spLocks noGrp="1"/>
          </p:cNvSpPr>
          <p:nvPr>
            <p:ph type="title" idx="100" hasCustomPrompt="1"/>
          </p:nvPr>
        </p:nvSpPr>
        <p:spPr>
          <a:xfrm>
            <a:off x="548640" y="365760"/>
            <a:ext cx="914400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Which features matter</a:t>
            </a:r>
            <a:endParaRPr lang="en-US" sz="3200" dirty="0"/>
          </a:p>
        </p:txBody>
      </p:sp>
      <p:pic>
        <p:nvPicPr>
          <p:cNvPr id="5" name="feature importance" descr="Permutation importance bars for Logistic Regression, Random Forest and Gradient Boosting"/>
          <p:cNvPicPr>
            <a:picLocks noChangeAspect="1"/>
          </p:cNvPicPr>
          <p:nvPr/>
        </p:nvPicPr>
        <p:blipFill>
          <a:blip r:embed="rId3"/>
          <a:stretch>
            <a:fillRect/>
          </a:stretch>
        </p:blipFill>
        <p:spPr>
          <a:xfrm>
            <a:off x="1251585" y="1280160"/>
            <a:ext cx="9658350" cy="3566160"/>
          </a:xfrm>
          <a:prstGeom prst="rect">
            <a:avLst/>
          </a:prstGeom>
        </p:spPr>
      </p:pic>
      <p:sp>
        <p:nvSpPr>
          <p:cNvPr id="6" name="imp method card"/>
          <p:cNvSpPr/>
          <p:nvPr/>
        </p:nvSpPr>
        <p:spPr>
          <a:xfrm>
            <a:off x="548640" y="4983480"/>
            <a:ext cx="5486400" cy="1188720"/>
          </a:xfrm>
          <a:prstGeom prst="roundRect">
            <a:avLst>
              <a:gd name="adj" fmla="val 9231"/>
            </a:avLst>
          </a:prstGeom>
          <a:solidFill>
            <a:schemeClr val="bg2"/>
          </a:solidFill>
          <a:ln/>
        </p:spPr>
        <p:txBody>
          <a:bodyPr/>
          <a:lstStyle/>
          <a:p>
            <a:endParaRPr lang="en-US"/>
          </a:p>
        </p:txBody>
      </p:sp>
      <p:sp>
        <p:nvSpPr>
          <p:cNvPr id="7" name="Text 4"/>
          <p:cNvSpPr txBox="1"/>
          <p:nvPr/>
        </p:nvSpPr>
        <p:spPr>
          <a:xfrm>
            <a:off x="777240" y="5120640"/>
            <a:ext cx="5029200" cy="960120"/>
          </a:xfrm>
          <a:prstGeom prst="rect">
            <a:avLst/>
          </a:prstGeom>
          <a:noFill/>
          <a:ln/>
        </p:spPr>
        <p:txBody>
          <a:bodyPr wrap="square" lIns="0" tIns="0" rIns="0" bIns="0" rtlCol="0" anchor="t"/>
          <a:lstStyle/>
          <a:p>
            <a:pPr marL="0" indent="0">
              <a:buNone/>
            </a:pPr>
            <a:r>
              <a:rPr lang="en-US" sz="1400" b="1" dirty="0">
                <a:solidFill>
                  <a:schemeClr val="tx1"/>
                </a:solidFill>
              </a:rPr>
              <a:t>Permutation importance: </a:t>
            </a:r>
            <a:r>
              <a:rPr lang="en-US" sz="1400" dirty="0">
                <a:solidFill>
                  <a:schemeClr val="tx1"/>
                </a:solidFill>
              </a:rPr>
              <a:t>shuffle one column in the held-out patients and measure how much ROC AUC drops. Bigger drop = the model relies on it more.</a:t>
            </a:r>
            <a:endParaRPr lang="en-US" sz="1400" dirty="0"/>
          </a:p>
        </p:txBody>
      </p:sp>
      <p:sp>
        <p:nvSpPr>
          <p:cNvPr id="8" name="imp result card"/>
          <p:cNvSpPr/>
          <p:nvPr/>
        </p:nvSpPr>
        <p:spPr>
          <a:xfrm>
            <a:off x="6217920" y="4983480"/>
            <a:ext cx="5394960" cy="1188720"/>
          </a:xfrm>
          <a:prstGeom prst="roundRect">
            <a:avLst>
              <a:gd name="adj" fmla="val 9231"/>
            </a:avLst>
          </a:prstGeom>
          <a:solidFill>
            <a:schemeClr val="bg2"/>
          </a:solidFill>
          <a:ln/>
        </p:spPr>
        <p:txBody>
          <a:bodyPr/>
          <a:lstStyle/>
          <a:p>
            <a:endParaRPr lang="en-US"/>
          </a:p>
        </p:txBody>
      </p:sp>
      <p:sp>
        <p:nvSpPr>
          <p:cNvPr id="9" name="Text 6"/>
          <p:cNvSpPr txBox="1"/>
          <p:nvPr/>
        </p:nvSpPr>
        <p:spPr>
          <a:xfrm>
            <a:off x="6446520" y="5120640"/>
            <a:ext cx="4983480" cy="960120"/>
          </a:xfrm>
          <a:prstGeom prst="rect">
            <a:avLst/>
          </a:prstGeom>
          <a:noFill/>
          <a:ln/>
        </p:spPr>
        <p:txBody>
          <a:bodyPr wrap="square" lIns="0" tIns="0" rIns="0" bIns="0" rtlCol="0" anchor="t"/>
          <a:lstStyle/>
          <a:p>
            <a:pPr marL="0" indent="0">
              <a:buNone/>
            </a:pPr>
            <a:r>
              <a:rPr lang="en-US" sz="1400" b="1" dirty="0">
                <a:solidFill>
                  <a:schemeClr val="tx1"/>
                </a:solidFill>
              </a:rPr>
              <a:t>All three agree: </a:t>
            </a:r>
            <a:r>
              <a:rPr lang="en-US" sz="1400" dirty="0">
                <a:solidFill>
                  <a:schemeClr val="tx1"/>
                </a:solidFill>
              </a:rPr>
              <a:t>ca, thal, cp (LR); thal, ca, cp (RF); ca, thal, cp (GB). It describes the models, not causes.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4" name="Text 0"/>
          <p:cNvSpPr>
            <a:spLocks noGrp="1"/>
          </p:cNvSpPr>
          <p:nvPr>
            <p:ph type="title" idx="100" hasCustomPrompt="1"/>
          </p:nvPr>
        </p:nvSpPr>
        <p:spPr>
          <a:xfrm>
            <a:off x="548640" y="365760"/>
            <a:ext cx="914400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Interactive web app (Streamlit)</a:t>
            </a:r>
            <a:endParaRPr lang="en-US" sz="3200" dirty="0"/>
          </a:p>
        </p:txBody>
      </p:sp>
      <p:pic>
        <p:nvPicPr>
          <p:cNvPr id="5" name="app overview" descr="Overview page of the web app with each model's ROC AUC"/>
          <p:cNvPicPr>
            <a:picLocks noChangeAspect="1"/>
          </p:cNvPicPr>
          <p:nvPr/>
        </p:nvPicPr>
        <p:blipFill>
          <a:blip r:embed="rId3"/>
          <a:stretch>
            <a:fillRect/>
          </a:stretch>
        </p:blipFill>
        <p:spPr>
          <a:xfrm>
            <a:off x="548640" y="1371600"/>
            <a:ext cx="5394960" cy="3221990"/>
          </a:xfrm>
          <a:prstGeom prst="rect">
            <a:avLst/>
          </a:prstGeom>
          <a:effectLst>
            <a:outerShdw blurRad="76200" dist="25400" dir="5400000" algn="bl" rotWithShape="0">
              <a:srgbClr val="000000">
                <a:alpha val="12000"/>
              </a:srgbClr>
            </a:outerShdw>
          </a:effectLst>
        </p:spPr>
      </p:pic>
      <p:pic>
        <p:nvPicPr>
          <p:cNvPr id="6" name="app estimator" descr="Risk estimator page showing the probability of disease from the six models"/>
          <p:cNvPicPr>
            <a:picLocks noChangeAspect="1"/>
          </p:cNvPicPr>
          <p:nvPr/>
        </p:nvPicPr>
        <p:blipFill>
          <a:blip r:embed="rId4"/>
          <a:stretch>
            <a:fillRect/>
          </a:stretch>
        </p:blipFill>
        <p:spPr>
          <a:xfrm>
            <a:off x="6217920" y="1371600"/>
            <a:ext cx="5394960" cy="3221990"/>
          </a:xfrm>
          <a:prstGeom prst="rect">
            <a:avLst/>
          </a:prstGeom>
          <a:effectLst>
            <a:outerShdw blurRad="76200" dist="25400" dir="5400000" algn="bl" rotWithShape="0">
              <a:srgbClr val="000000">
                <a:alpha val="12000"/>
              </a:srgbClr>
            </a:outerShdw>
          </a:effectLst>
        </p:spPr>
      </p:pic>
      <p:sp>
        <p:nvSpPr>
          <p:cNvPr id="7" name="Text 3"/>
          <p:cNvSpPr txBox="1"/>
          <p:nvPr/>
        </p:nvSpPr>
        <p:spPr>
          <a:xfrm>
            <a:off x="548640" y="4709160"/>
            <a:ext cx="5394960" cy="320040"/>
          </a:xfrm>
          <a:prstGeom prst="rect">
            <a:avLst/>
          </a:prstGeom>
          <a:noFill/>
          <a:ln/>
        </p:spPr>
        <p:txBody>
          <a:bodyPr wrap="square" lIns="0" tIns="0" rIns="0" bIns="0" rtlCol="0" anchor="t"/>
          <a:lstStyle/>
          <a:p>
            <a:pPr marL="0" indent="0">
              <a:buNone/>
            </a:pPr>
            <a:r>
              <a:rPr lang="en-US" sz="1400" b="1" dirty="0">
                <a:solidFill>
                  <a:schemeClr val="tx2"/>
                </a:solidFill>
              </a:rPr>
              <a:t>Overview: headline results</a:t>
            </a:r>
            <a:endParaRPr lang="en-US" sz="1400" dirty="0"/>
          </a:p>
        </p:txBody>
      </p:sp>
      <p:sp>
        <p:nvSpPr>
          <p:cNvPr id="8" name="Text 4"/>
          <p:cNvSpPr txBox="1"/>
          <p:nvPr/>
        </p:nvSpPr>
        <p:spPr>
          <a:xfrm>
            <a:off x="6217920" y="4709160"/>
            <a:ext cx="5394960" cy="320040"/>
          </a:xfrm>
          <a:prstGeom prst="rect">
            <a:avLst/>
          </a:prstGeom>
          <a:noFill/>
          <a:ln/>
        </p:spPr>
        <p:txBody>
          <a:bodyPr wrap="square" lIns="0" tIns="0" rIns="0" bIns="0" rtlCol="0" anchor="t"/>
          <a:lstStyle/>
          <a:p>
            <a:pPr marL="0" indent="0">
              <a:buNone/>
            </a:pPr>
            <a:r>
              <a:rPr lang="en-US" sz="1400" b="1" dirty="0">
                <a:solidFill>
                  <a:schemeClr val="tx2"/>
                </a:solidFill>
              </a:rPr>
              <a:t>Risk estimator: all six models side by side</a:t>
            </a:r>
            <a:endParaRPr lang="en-US" sz="1400" dirty="0"/>
          </a:p>
        </p:txBody>
      </p:sp>
      <p:sp>
        <p:nvSpPr>
          <p:cNvPr id="9" name="Text 5"/>
          <p:cNvSpPr txBox="1"/>
          <p:nvPr/>
        </p:nvSpPr>
        <p:spPr>
          <a:xfrm>
            <a:off x="548640" y="5257800"/>
            <a:ext cx="11064240" cy="822960"/>
          </a:xfrm>
          <a:prstGeom prst="rect">
            <a:avLst/>
          </a:prstGeom>
          <a:noFill/>
          <a:ln/>
        </p:spPr>
        <p:txBody>
          <a:bodyPr wrap="square" lIns="0" tIns="0" rIns="0" bIns="0" rtlCol="0" anchor="t"/>
          <a:lstStyle/>
          <a:p>
            <a:pPr marL="0" indent="0">
              <a:buNone/>
            </a:pPr>
            <a:r>
              <a:rPr lang="en-US" sz="1500" dirty="0">
                <a:solidFill>
                  <a:schemeClr val="tx1"/>
                </a:solidFill>
              </a:rPr>
              <a:t>Five pages: Overview · Data explorer · Model results · Risk estimator (demo) · Methods and limitations. Disclaimer on every page, inputs validated, nothing stored, telemetry off.</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4" name="Text 0"/>
          <p:cNvSpPr>
            <a:spLocks noGrp="1"/>
          </p:cNvSpPr>
          <p:nvPr>
            <p:ph type="title" idx="100" hasCustomPrompt="1"/>
          </p:nvPr>
        </p:nvSpPr>
        <p:spPr>
          <a:xfrm>
            <a:off x="548640" y="365760"/>
            <a:ext cx="914400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Limitations and future work</a:t>
            </a:r>
            <a:endParaRPr lang="en-US" sz="3200" dirty="0"/>
          </a:p>
        </p:txBody>
      </p:sp>
      <p:sp>
        <p:nvSpPr>
          <p:cNvPr id="5" name="limits card"/>
          <p:cNvSpPr/>
          <p:nvPr/>
        </p:nvSpPr>
        <p:spPr>
          <a:xfrm>
            <a:off x="548640" y="1417320"/>
            <a:ext cx="5440680" cy="4709160"/>
          </a:xfrm>
          <a:prstGeom prst="roundRect">
            <a:avLst>
              <a:gd name="adj" fmla="val 2330"/>
            </a:avLst>
          </a:prstGeom>
          <a:solidFill>
            <a:schemeClr val="bg2"/>
          </a:solidFill>
          <a:ln/>
        </p:spPr>
        <p:txBody>
          <a:bodyPr/>
          <a:lstStyle/>
          <a:p>
            <a:endParaRPr lang="en-US"/>
          </a:p>
        </p:txBody>
      </p:sp>
      <p:sp>
        <p:nvSpPr>
          <p:cNvPr id="6" name="Text 4"/>
          <p:cNvSpPr txBox="1"/>
          <p:nvPr/>
        </p:nvSpPr>
        <p:spPr>
          <a:xfrm>
            <a:off x="822960" y="1645920"/>
            <a:ext cx="4937760" cy="411480"/>
          </a:xfrm>
          <a:prstGeom prst="rect">
            <a:avLst/>
          </a:prstGeom>
          <a:noFill/>
          <a:ln/>
        </p:spPr>
        <p:txBody>
          <a:bodyPr wrap="square" lIns="0" tIns="0" rIns="0" bIns="0" rtlCol="0" anchor="t"/>
          <a:lstStyle/>
          <a:p>
            <a:pPr marL="0" indent="0">
              <a:buNone/>
            </a:pPr>
            <a:r>
              <a:rPr lang="en-US" sz="2000" b="1" dirty="0">
                <a:solidFill>
                  <a:schemeClr val="accent4"/>
                </a:solidFill>
                <a:latin typeface="Cambria" pitchFamily="34" charset="0"/>
                <a:ea typeface="Cambria" pitchFamily="34" charset="-122"/>
                <a:cs typeface="Cambria" pitchFamily="34" charset="-120"/>
              </a:rPr>
              <a:t>Limitations</a:t>
            </a:r>
            <a:endParaRPr lang="en-US" sz="2000" dirty="0"/>
          </a:p>
        </p:txBody>
      </p:sp>
      <p:sp>
        <p:nvSpPr>
          <p:cNvPr id="7" name="Text 5"/>
          <p:cNvSpPr txBox="1"/>
          <p:nvPr/>
        </p:nvSpPr>
        <p:spPr>
          <a:xfrm>
            <a:off x="822960" y="2240280"/>
            <a:ext cx="4937760" cy="374904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chemeClr val="tx1"/>
                </a:solidFill>
              </a:rPr>
              <a:t>303 patients, one centre, internal validation only</a:t>
            </a:r>
            <a:endParaRPr lang="en-US" sz="1700" dirty="0"/>
          </a:p>
          <a:p>
            <a:pPr marL="342900" indent="-342900">
              <a:spcAft>
                <a:spcPts val="1400"/>
              </a:spcAft>
              <a:buSzPct val="100000"/>
              <a:buChar char="•"/>
            </a:pPr>
            <a:r>
              <a:rPr lang="en-US" sz="1700" dirty="0">
                <a:solidFill>
                  <a:schemeClr val="tx1"/>
                </a:solidFill>
              </a:rPr>
              <a:t>Referral bias; predictors from specialist tests</a:t>
            </a:r>
            <a:endParaRPr lang="en-US" sz="1700" dirty="0"/>
          </a:p>
          <a:p>
            <a:pPr marL="342900" indent="-342900">
              <a:spcAft>
                <a:spcPts val="1400"/>
              </a:spcAft>
              <a:buSzPct val="100000"/>
              <a:buChar char="•"/>
            </a:pPr>
            <a:r>
              <a:rPr lang="en-US" sz="1700" dirty="0">
                <a:solidFill>
                  <a:schemeClr val="tx1"/>
                </a:solidFill>
              </a:rPr>
              <a:t>Severity levels collapsed into yes / no</a:t>
            </a:r>
            <a:endParaRPr lang="en-US" sz="1700" dirty="0"/>
          </a:p>
          <a:p>
            <a:pPr marL="342900" indent="-342900">
              <a:spcAft>
                <a:spcPts val="1400"/>
              </a:spcAft>
              <a:buSzPct val="100000"/>
              <a:buChar char="•"/>
            </a:pPr>
            <a:r>
              <a:rPr lang="en-US" sz="1700" dirty="0">
                <a:solidFill>
                  <a:schemeClr val="tx1"/>
                </a:solidFill>
              </a:rPr>
              <a:t>Mode imputation for 6 rows</a:t>
            </a:r>
            <a:endParaRPr lang="en-US" sz="1700" dirty="0"/>
          </a:p>
          <a:p>
            <a:pPr marL="342900" indent="-342900">
              <a:spcAft>
                <a:spcPts val="1400"/>
              </a:spcAft>
              <a:buSzPct val="100000"/>
              <a:buChar char="•"/>
            </a:pPr>
            <a:r>
              <a:rPr lang="en-US" sz="1700" dirty="0">
                <a:solidFill>
                  <a:schemeClr val="tx1"/>
                </a:solidFill>
              </a:rPr>
              <a:t>Bayesian network structure assumed, not learned</a:t>
            </a:r>
            <a:endParaRPr lang="en-US" sz="1700" dirty="0"/>
          </a:p>
        </p:txBody>
      </p:sp>
      <p:sp>
        <p:nvSpPr>
          <p:cNvPr id="8" name="future card"/>
          <p:cNvSpPr/>
          <p:nvPr/>
        </p:nvSpPr>
        <p:spPr>
          <a:xfrm>
            <a:off x="6172200" y="1417320"/>
            <a:ext cx="5440680" cy="4709160"/>
          </a:xfrm>
          <a:prstGeom prst="roundRect">
            <a:avLst>
              <a:gd name="adj" fmla="val 2330"/>
            </a:avLst>
          </a:prstGeom>
          <a:solidFill>
            <a:schemeClr val="bg2"/>
          </a:solidFill>
          <a:ln/>
        </p:spPr>
        <p:txBody>
          <a:bodyPr/>
          <a:lstStyle/>
          <a:p>
            <a:endParaRPr lang="en-US"/>
          </a:p>
        </p:txBody>
      </p:sp>
      <p:sp>
        <p:nvSpPr>
          <p:cNvPr id="9" name="Text 7"/>
          <p:cNvSpPr txBox="1"/>
          <p:nvPr/>
        </p:nvSpPr>
        <p:spPr>
          <a:xfrm>
            <a:off x="6446520" y="1645920"/>
            <a:ext cx="4937760" cy="411480"/>
          </a:xfrm>
          <a:prstGeom prst="rect">
            <a:avLst/>
          </a:prstGeom>
          <a:noFill/>
          <a:ln/>
        </p:spPr>
        <p:txBody>
          <a:bodyPr wrap="square" lIns="0" tIns="0" rIns="0" bIns="0" rtlCol="0" anchor="t"/>
          <a:lstStyle/>
          <a:p>
            <a:pPr marL="0" indent="0">
              <a:buNone/>
            </a:pPr>
            <a:r>
              <a:rPr lang="en-US" sz="2000" b="1" dirty="0">
                <a:solidFill>
                  <a:schemeClr val="accent3"/>
                </a:solidFill>
                <a:latin typeface="Cambria" pitchFamily="34" charset="0"/>
                <a:ea typeface="Cambria" pitchFamily="34" charset="-122"/>
                <a:cs typeface="Cambria" pitchFamily="34" charset="-120"/>
              </a:rPr>
              <a:t>Next (Phase 2 and beyond)</a:t>
            </a:r>
            <a:endParaRPr lang="en-US" sz="2000" dirty="0"/>
          </a:p>
        </p:txBody>
      </p:sp>
      <p:sp>
        <p:nvSpPr>
          <p:cNvPr id="10" name="Text 8"/>
          <p:cNvSpPr txBox="1"/>
          <p:nvPr/>
        </p:nvSpPr>
        <p:spPr>
          <a:xfrm>
            <a:off x="6446520" y="2240280"/>
            <a:ext cx="4937760" cy="374904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chemeClr val="tx1"/>
                </a:solidFill>
              </a:rPr>
              <a:t>Add a neural network and compare it on the same folds</a:t>
            </a:r>
            <a:endParaRPr lang="en-US" sz="1700" dirty="0"/>
          </a:p>
          <a:p>
            <a:pPr marL="342900" indent="-342900">
              <a:spcAft>
                <a:spcPts val="1400"/>
              </a:spcAft>
              <a:buSzPct val="100000"/>
              <a:buChar char="•"/>
            </a:pPr>
            <a:r>
              <a:rPr lang="en-US" sz="1700" dirty="0">
                <a:solidFill>
                  <a:schemeClr val="tx1"/>
                </a:solidFill>
              </a:rPr>
              <a:t>External validation on the Hungarian, Swiss and VA files</a:t>
            </a:r>
            <a:endParaRPr lang="en-US" sz="1700" dirty="0"/>
          </a:p>
          <a:p>
            <a:pPr marL="342900" indent="-342900">
              <a:spcAft>
                <a:spcPts val="1400"/>
              </a:spcAft>
              <a:buSzPct val="100000"/>
              <a:buChar char="•"/>
            </a:pPr>
            <a:r>
              <a:rPr lang="en-US" sz="1700" dirty="0">
                <a:solidFill>
                  <a:schemeClr val="tx1"/>
                </a:solidFill>
              </a:rPr>
              <a:t>Learn the Bayesian network structure from data</a:t>
            </a:r>
            <a:endParaRPr lang="en-US" sz="1700" dirty="0"/>
          </a:p>
          <a:p>
            <a:pPr marL="342900" indent="-342900">
              <a:spcAft>
                <a:spcPts val="1400"/>
              </a:spcAft>
              <a:buSzPct val="100000"/>
              <a:buChar char="•"/>
            </a:pPr>
            <a:r>
              <a:rPr lang="en-US" sz="1700" dirty="0">
                <a:solidFill>
                  <a:schemeClr val="tx1"/>
                </a:solidFill>
              </a:rPr>
              <a:t>Multiple imputation for missing values</a:t>
            </a:r>
            <a:endParaRPr lang="en-US" sz="1700" dirty="0"/>
          </a:p>
          <a:p>
            <a:pPr marL="342900" indent="-342900">
              <a:spcAft>
                <a:spcPts val="1400"/>
              </a:spcAft>
              <a:buSzPct val="100000"/>
              <a:buChar char="•"/>
            </a:pPr>
            <a:r>
              <a:rPr lang="en-US" sz="1700" dirty="0">
                <a:solidFill>
                  <a:schemeClr val="tx1"/>
                </a:solidFill>
              </a:rPr>
              <a:t>Subgroup and fairness analysis (206 men vs 97 women)</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548640"/>
            <a:ext cx="10698480" cy="822960"/>
          </a:xfrm>
          <a:prstGeom prst="rect">
            <a:avLst/>
          </a:prstGeom>
          <a:noFill/>
          <a:ln/>
        </p:spPr>
        <p:txBody>
          <a:bodyPr wrap="square" lIns="0" tIns="0" rIns="0" bIns="0" rtlCol="0" anchor="ctr"/>
          <a:lstStyle/>
          <a:p>
            <a:pPr marL="0" indent="0" algn="l">
              <a:buNone/>
            </a:pPr>
            <a:r>
              <a:rPr lang="en-US" sz="3800" b="1" dirty="0">
                <a:solidFill>
                  <a:schemeClr val="bg1"/>
                </a:solidFill>
                <a:latin typeface="Cambria" pitchFamily="34" charset="0"/>
                <a:ea typeface="Cambria" pitchFamily="34" charset="-122"/>
                <a:cs typeface="Cambria" pitchFamily="34" charset="-120"/>
              </a:rPr>
              <a:t>Conclusion</a:t>
            </a:r>
            <a:endParaRPr lang="en-US" sz="3800" dirty="0"/>
          </a:p>
        </p:txBody>
      </p:sp>
      <p:sp>
        <p:nvSpPr>
          <p:cNvPr id="3" name="conclusion dot 1"/>
          <p:cNvSpPr/>
          <p:nvPr/>
        </p:nvSpPr>
        <p:spPr>
          <a:xfrm>
            <a:off x="731520" y="1828800"/>
            <a:ext cx="365760" cy="365760"/>
          </a:xfrm>
          <a:prstGeom prst="ellipse">
            <a:avLst/>
          </a:prstGeom>
          <a:solidFill>
            <a:schemeClr val="accent3"/>
          </a:solidFill>
          <a:ln/>
        </p:spPr>
        <p:txBody>
          <a:bodyPr/>
          <a:lstStyle/>
          <a:p>
            <a:endParaRPr lang="en-US"/>
          </a:p>
        </p:txBody>
      </p:sp>
      <p:sp>
        <p:nvSpPr>
          <p:cNvPr id="4" name="Text 2"/>
          <p:cNvSpPr txBox="1"/>
          <p:nvPr/>
        </p:nvSpPr>
        <p:spPr>
          <a:xfrm>
            <a:off x="731520" y="2423160"/>
            <a:ext cx="3291840" cy="822960"/>
          </a:xfrm>
          <a:prstGeom prst="rect">
            <a:avLst/>
          </a:prstGeom>
          <a:noFill/>
          <a:ln/>
        </p:spPr>
        <p:txBody>
          <a:bodyPr wrap="square" lIns="0" tIns="0" rIns="0" bIns="0" rtlCol="0" anchor="t"/>
          <a:lstStyle/>
          <a:p>
            <a:pPr marL="0" indent="0">
              <a:buNone/>
            </a:pPr>
            <a:r>
              <a:rPr lang="en-US" sz="2400" b="1" dirty="0">
                <a:solidFill>
                  <a:schemeClr val="bg1"/>
                </a:solidFill>
                <a:latin typeface="Cambria" pitchFamily="34" charset="0"/>
                <a:ea typeface="Cambria" pitchFamily="34" charset="-122"/>
                <a:cs typeface="Cambria" pitchFamily="34" charset="-120"/>
              </a:rPr>
              <a:t>They work</a:t>
            </a:r>
            <a:endParaRPr lang="en-US" sz="2400" dirty="0"/>
          </a:p>
        </p:txBody>
      </p:sp>
      <p:sp>
        <p:nvSpPr>
          <p:cNvPr id="5" name="Text 3"/>
          <p:cNvSpPr txBox="1"/>
          <p:nvPr/>
        </p:nvSpPr>
        <p:spPr>
          <a:xfrm>
            <a:off x="731520" y="3154680"/>
            <a:ext cx="3291840" cy="1463040"/>
          </a:xfrm>
          <a:prstGeom prst="rect">
            <a:avLst/>
          </a:prstGeom>
          <a:noFill/>
          <a:ln/>
        </p:spPr>
        <p:txBody>
          <a:bodyPr wrap="square" lIns="0" tIns="0" rIns="0" bIns="0" rtlCol="0" anchor="t"/>
          <a:lstStyle/>
          <a:p>
            <a:pPr marL="0" indent="0">
              <a:buNone/>
            </a:pPr>
            <a:r>
              <a:rPr lang="en-US" sz="1600" dirty="0">
                <a:solidFill>
                  <a:schemeClr val="accent6"/>
                </a:solidFill>
              </a:rPr>
              <a:t>ROC AUC 0.89–0.91 and accuracy 81.8%–84.9% on unseen patients.</a:t>
            </a:r>
            <a:endParaRPr lang="en-US" sz="1600" dirty="0"/>
          </a:p>
        </p:txBody>
      </p:sp>
      <p:sp>
        <p:nvSpPr>
          <p:cNvPr id="6" name="conclusion dot 2"/>
          <p:cNvSpPr/>
          <p:nvPr/>
        </p:nvSpPr>
        <p:spPr>
          <a:xfrm>
            <a:off x="4389120" y="1828800"/>
            <a:ext cx="365760" cy="365760"/>
          </a:xfrm>
          <a:prstGeom prst="ellipse">
            <a:avLst/>
          </a:prstGeom>
          <a:solidFill>
            <a:schemeClr val="accent1"/>
          </a:solidFill>
          <a:ln/>
        </p:spPr>
        <p:txBody>
          <a:bodyPr/>
          <a:lstStyle/>
          <a:p>
            <a:endParaRPr lang="en-US"/>
          </a:p>
        </p:txBody>
      </p:sp>
      <p:sp>
        <p:nvSpPr>
          <p:cNvPr id="7" name="Text 5"/>
          <p:cNvSpPr txBox="1"/>
          <p:nvPr/>
        </p:nvSpPr>
        <p:spPr>
          <a:xfrm>
            <a:off x="4389120" y="2423160"/>
            <a:ext cx="3291840" cy="822960"/>
          </a:xfrm>
          <a:prstGeom prst="rect">
            <a:avLst/>
          </a:prstGeom>
          <a:noFill/>
          <a:ln/>
        </p:spPr>
        <p:txBody>
          <a:bodyPr wrap="square" lIns="0" tIns="0" rIns="0" bIns="0" rtlCol="0" anchor="t"/>
          <a:lstStyle/>
          <a:p>
            <a:pPr marL="0" indent="0">
              <a:buNone/>
            </a:pPr>
            <a:r>
              <a:rPr lang="en-US" sz="2400" b="1" dirty="0">
                <a:solidFill>
                  <a:schemeClr val="bg1"/>
                </a:solidFill>
                <a:latin typeface="Cambria" pitchFamily="34" charset="0"/>
                <a:ea typeface="Cambria" pitchFamily="34" charset="-122"/>
                <a:cs typeface="Cambria" pitchFamily="34" charset="-120"/>
              </a:rPr>
              <a:t>No clear winner</a:t>
            </a:r>
            <a:endParaRPr lang="en-US" sz="2400" dirty="0"/>
          </a:p>
        </p:txBody>
      </p:sp>
      <p:sp>
        <p:nvSpPr>
          <p:cNvPr id="8" name="Text 6"/>
          <p:cNvSpPr txBox="1"/>
          <p:nvPr/>
        </p:nvSpPr>
        <p:spPr>
          <a:xfrm>
            <a:off x="4389120" y="3154680"/>
            <a:ext cx="3291840" cy="1463040"/>
          </a:xfrm>
          <a:prstGeom prst="rect">
            <a:avLst/>
          </a:prstGeom>
          <a:noFill/>
          <a:ln/>
        </p:spPr>
        <p:txBody>
          <a:bodyPr wrap="square" lIns="0" tIns="0" rIns="0" bIns="0" rtlCol="0" anchor="t"/>
          <a:lstStyle/>
          <a:p>
            <a:pPr marL="0" indent="0">
              <a:buNone/>
            </a:pPr>
            <a:r>
              <a:rPr lang="en-US" sz="1600" dirty="0">
                <a:solidFill>
                  <a:schemeClr val="accent6"/>
                </a:solidFill>
              </a:rPr>
              <a:t>Five models tie within the uncertainty on 303 patients; Gradient Boosting is slightly behind.</a:t>
            </a:r>
            <a:endParaRPr lang="en-US" sz="1600" dirty="0"/>
          </a:p>
        </p:txBody>
      </p:sp>
      <p:sp>
        <p:nvSpPr>
          <p:cNvPr id="9" name="conclusion dot 3"/>
          <p:cNvSpPr/>
          <p:nvPr/>
        </p:nvSpPr>
        <p:spPr>
          <a:xfrm>
            <a:off x="8046720" y="1828800"/>
            <a:ext cx="365760" cy="365760"/>
          </a:xfrm>
          <a:prstGeom prst="ellipse">
            <a:avLst/>
          </a:prstGeom>
          <a:solidFill>
            <a:schemeClr val="accent4"/>
          </a:solidFill>
          <a:ln/>
        </p:spPr>
        <p:txBody>
          <a:bodyPr/>
          <a:lstStyle/>
          <a:p>
            <a:endParaRPr lang="en-US"/>
          </a:p>
        </p:txBody>
      </p:sp>
      <p:sp>
        <p:nvSpPr>
          <p:cNvPr id="10" name="Text 8"/>
          <p:cNvSpPr txBox="1"/>
          <p:nvPr/>
        </p:nvSpPr>
        <p:spPr>
          <a:xfrm>
            <a:off x="8046720" y="2423160"/>
            <a:ext cx="3291840" cy="822960"/>
          </a:xfrm>
          <a:prstGeom prst="rect">
            <a:avLst/>
          </a:prstGeom>
          <a:noFill/>
          <a:ln/>
        </p:spPr>
        <p:txBody>
          <a:bodyPr wrap="square" lIns="0" tIns="0" rIns="0" bIns="0" rtlCol="0" anchor="t"/>
          <a:lstStyle/>
          <a:p>
            <a:pPr marL="0" indent="0">
              <a:buNone/>
            </a:pPr>
            <a:r>
              <a:rPr lang="en-US" sz="2400" b="1" dirty="0">
                <a:solidFill>
                  <a:schemeClr val="bg1"/>
                </a:solidFill>
                <a:latin typeface="Cambria" pitchFamily="34" charset="0"/>
                <a:ea typeface="Cambria" pitchFamily="34" charset="-122"/>
                <a:cs typeface="Cambria" pitchFamily="34" charset="-120"/>
              </a:rPr>
              <a:t>No clinical claim</a:t>
            </a:r>
            <a:endParaRPr lang="en-US" sz="2400" dirty="0"/>
          </a:p>
        </p:txBody>
      </p:sp>
      <p:sp>
        <p:nvSpPr>
          <p:cNvPr id="11" name="Text 9"/>
          <p:cNvSpPr txBox="1"/>
          <p:nvPr/>
        </p:nvSpPr>
        <p:spPr>
          <a:xfrm>
            <a:off x="8046720" y="3154680"/>
            <a:ext cx="3291840" cy="1463040"/>
          </a:xfrm>
          <a:prstGeom prst="rect">
            <a:avLst/>
          </a:prstGeom>
          <a:noFill/>
          <a:ln/>
        </p:spPr>
        <p:txBody>
          <a:bodyPr wrap="square" lIns="0" tIns="0" rIns="0" bIns="0" rtlCol="0" anchor="t"/>
          <a:lstStyle/>
          <a:p>
            <a:pPr marL="0" indent="0">
              <a:buNone/>
            </a:pPr>
            <a:r>
              <a:rPr lang="en-US" sz="1600" dirty="0">
                <a:solidFill>
                  <a:schemeClr val="accent6"/>
                </a:solidFill>
              </a:rPr>
              <a:t>A careful, reproducible academic comparison, not a diagnostic tool.</a:t>
            </a:r>
            <a:endParaRPr lang="en-US" sz="1600" dirty="0"/>
          </a:p>
        </p:txBody>
      </p:sp>
      <p:sp>
        <p:nvSpPr>
          <p:cNvPr id="12" name="Text 10"/>
          <p:cNvSpPr txBox="1"/>
          <p:nvPr/>
        </p:nvSpPr>
        <p:spPr>
          <a:xfrm>
            <a:off x="731520" y="5394960"/>
            <a:ext cx="10698480" cy="731520"/>
          </a:xfrm>
          <a:prstGeom prst="rect">
            <a:avLst/>
          </a:prstGeom>
          <a:noFill/>
          <a:ln/>
        </p:spPr>
        <p:txBody>
          <a:bodyPr wrap="square" lIns="0" tIns="0" rIns="0" bIns="0" rtlCol="0" anchor="t"/>
          <a:lstStyle/>
          <a:p>
            <a:pPr marL="0" indent="0">
              <a:buNone/>
            </a:pPr>
            <a:r>
              <a:rPr lang="en-US" sz="3000" b="1" dirty="0">
                <a:solidFill>
                  <a:schemeClr val="bg1"/>
                </a:solidFill>
                <a:latin typeface="Cambria" pitchFamily="34" charset="0"/>
                <a:ea typeface="Cambria" pitchFamily="34" charset="-122"/>
                <a:cs typeface="Cambria" pitchFamily="34" charset="-120"/>
              </a:rPr>
              <a:t>Thank you. Questions?</a:t>
            </a:r>
            <a:endParaRPr lang="en-US" sz="3000" dirty="0"/>
          </a:p>
        </p:txBody>
      </p:sp>
    </p:spTree>
  </p:cSld>
  <p:clrMapOvr>
    <a:masterClrMapping/>
  </p:clrMapOvr>
</p:sld>
</file>

<file path=ppt/theme/theme1.xml><?xml version="1.0" encoding="utf-8"?>
<a:theme xmlns:a="http://schemas.openxmlformats.org/drawingml/2006/main" name="Cardio Ink">
  <a:themeElements>
    <a:clrScheme name="Cardio Ink">
      <a:dk1>
        <a:srgbClr val="1B2130"/>
      </a:dk1>
      <a:lt1>
        <a:srgbClr val="FFFFFF"/>
      </a:lt1>
      <a:dk2>
        <a:srgbClr val="141A26"/>
      </a:dk2>
      <a:lt2>
        <a:srgbClr val="F2F3F6"/>
      </a:lt2>
      <a:accent1>
        <a:srgbClr val="0173B2"/>
      </a:accent1>
      <a:accent2>
        <a:srgbClr val="DE8F05"/>
      </a:accent2>
      <a:accent3>
        <a:srgbClr val="029E73"/>
      </a:accent3>
      <a:accent4>
        <a:srgbClr val="A3172F"/>
      </a:accent4>
      <a:accent5>
        <a:srgbClr val="5B6475"/>
      </a:accent5>
      <a:accent6>
        <a:srgbClr val="D5D9E0"/>
      </a:accent6>
      <a:hlink>
        <a:srgbClr val="0173B2"/>
      </a:hlink>
      <a:folHlink>
        <a:srgbClr val="5B6475"/>
      </a:folHlink>
    </a:clrScheme>
    <a:fontScheme name="Cardio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2722</Words>
  <Application>Microsoft Macintosh PowerPoint</Application>
  <PresentationFormat>Widescreen</PresentationFormat>
  <Paragraphs>317</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Cardio Ink</vt:lpstr>
      <vt:lpstr>Heart Disease Risk Modelling</vt:lpstr>
      <vt:lpstr>Team and roles</vt:lpstr>
      <vt:lpstr>The question, and the short answer</vt:lpstr>
      <vt:lpstr>Dataset: UCI Heart Disease, Cleveland</vt:lpstr>
      <vt:lpstr>What the exploratory analysis showed</vt:lpstr>
      <vt:lpstr>Feature engineering without leakage</vt:lpstr>
      <vt:lpstr>Data splits and evaluation metrics</vt:lpstr>
      <vt:lpstr>Bayesian network: probability over a graph</vt:lpstr>
      <vt:lpstr>Naive Bayes: the simplest Bayesian network</vt:lpstr>
      <vt:lpstr>Logistic Regression and SVM</vt:lpstr>
      <vt:lpstr>Random Forest and Gradient Boosting</vt:lpstr>
      <vt:lpstr>Hyper-parameter tuning with nested CV</vt:lpstr>
      <vt:lpstr>Results: the six models are close</vt:lpstr>
      <vt:lpstr>Are the differences real?</vt:lpstr>
      <vt:lpstr>Which features matter</vt:lpstr>
      <vt:lpstr>Interactive web app (Streamlit)</vt:lpstr>
      <vt:lpstr>Limitations and future work</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Heart Disease Risk Modelling: Phase 1</dc:title>
  <dc:subject>Six machine-learning classifiers on the UCI Cleveland heart disease data</dc:subject>
  <dc:creator>PptxGenJS</dc:creator>
  <cp:lastModifiedBy>Hardik Hathwal</cp:lastModifiedBy>
  <cp:revision>2</cp:revision>
  <dcterms:created xsi:type="dcterms:W3CDTF">2026-10-26T09:08:30Z</dcterms:created>
  <dcterms:modified xsi:type="dcterms:W3CDTF">2026-10-26T09:28:07Z</dcterms:modified>
</cp:coreProperties>
</file>